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Proxima Nova"/>
      <p:regular r:id="rId52"/>
      <p:bold r:id="rId53"/>
      <p:italic r:id="rId54"/>
      <p:boldItalic r:id="rId55"/>
    </p:embeddedFont>
    <p:embeddedFont>
      <p:font typeface="Anaheim"/>
      <p:regular r:id="rId56"/>
      <p:bold r:id="rId57"/>
    </p:embeddedFont>
    <p:embeddedFont>
      <p:font typeface="Barlow Condensed ExtraBold"/>
      <p:bold r:id="rId58"/>
      <p:boldItalic r:id="rId59"/>
    </p:embeddedFont>
    <p:embeddedFont>
      <p:font typeface="Proxima Nova Semibold"/>
      <p:regular r:id="rId60"/>
      <p:bold r:id="rId61"/>
      <p:boldItalic r:id="rId62"/>
    </p:embeddedFont>
    <p:embeddedFont>
      <p:font typeface="Overpass Mono"/>
      <p:regular r:id="rId63"/>
      <p:bold r:id="rId64"/>
    </p:embeddedFont>
    <p:embeddedFont>
      <p:font typeface="Barlow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9" roundtripDataSignature="AMtx7mhuenc+QYEP4FsuZJffI4YSuq/m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roximaNovaSemibold-boldItalic.fntdata"/><Relationship Id="rId61" Type="http://schemas.openxmlformats.org/officeDocument/2006/relationships/font" Target="fonts/ProximaNovaSemibold-bold.fntdata"/><Relationship Id="rId20" Type="http://schemas.openxmlformats.org/officeDocument/2006/relationships/slide" Target="slides/slide15.xml"/><Relationship Id="rId64" Type="http://schemas.openxmlformats.org/officeDocument/2006/relationships/font" Target="fonts/OverpassMono-bold.fntdata"/><Relationship Id="rId63" Type="http://schemas.openxmlformats.org/officeDocument/2006/relationships/font" Target="fonts/OverpassMono-regular.fntdata"/><Relationship Id="rId22" Type="http://schemas.openxmlformats.org/officeDocument/2006/relationships/slide" Target="slides/slide17.xml"/><Relationship Id="rId66" Type="http://schemas.openxmlformats.org/officeDocument/2006/relationships/font" Target="fonts/Barlow-bold.fntdata"/><Relationship Id="rId21" Type="http://schemas.openxmlformats.org/officeDocument/2006/relationships/slide" Target="slides/slide16.xml"/><Relationship Id="rId65" Type="http://schemas.openxmlformats.org/officeDocument/2006/relationships/font" Target="fonts/Barlow-regular.fntdata"/><Relationship Id="rId24" Type="http://schemas.openxmlformats.org/officeDocument/2006/relationships/slide" Target="slides/slide19.xml"/><Relationship Id="rId68" Type="http://schemas.openxmlformats.org/officeDocument/2006/relationships/font" Target="fonts/Barlow-boldItalic.fntdata"/><Relationship Id="rId23" Type="http://schemas.openxmlformats.org/officeDocument/2006/relationships/slide" Target="slides/slide18.xml"/><Relationship Id="rId67" Type="http://schemas.openxmlformats.org/officeDocument/2006/relationships/font" Target="fonts/Barlow-italic.fntdata"/><Relationship Id="rId60" Type="http://schemas.openxmlformats.org/officeDocument/2006/relationships/font" Target="fonts/ProximaNovaSemibold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ProximaNova-bold.fntdata"/><Relationship Id="rId52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55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54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57" Type="http://schemas.openxmlformats.org/officeDocument/2006/relationships/font" Target="fonts/Anaheim-bold.fntdata"/><Relationship Id="rId12" Type="http://schemas.openxmlformats.org/officeDocument/2006/relationships/slide" Target="slides/slide7.xml"/><Relationship Id="rId56" Type="http://schemas.openxmlformats.org/officeDocument/2006/relationships/font" Target="fonts/Anaheim-regular.fntdata"/><Relationship Id="rId15" Type="http://schemas.openxmlformats.org/officeDocument/2006/relationships/slide" Target="slides/slide10.xml"/><Relationship Id="rId59" Type="http://schemas.openxmlformats.org/officeDocument/2006/relationships/font" Target="fonts/BarlowCondensedExtraBold-boldItalic.fntdata"/><Relationship Id="rId14" Type="http://schemas.openxmlformats.org/officeDocument/2006/relationships/slide" Target="slides/slide9.xml"/><Relationship Id="rId58" Type="http://schemas.openxmlformats.org/officeDocument/2006/relationships/font" Target="fonts/BarlowCondensedExtra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53300b82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253300b82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ce5780d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cce5780d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ce5780d2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cce5780d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c956911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cc956911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c7ff057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cc7ff057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c7ff057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cc7ff057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3300b827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253300b827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c7ff0572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cc7ff0572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c7ff0572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cc7ff0572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c956911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cc956911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c956911d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cc956911d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c956911d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cc956911d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c7ff057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cc7ff057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c7ff0572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cc7ff0572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c7ff0572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cc7ff0572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c956911d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cc956911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c7ff057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cc7ff057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c956911d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cc956911d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c956911d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cc956911d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c956911d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cc956911d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cc956911d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cc956911d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c956911d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cc956911d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c956911d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cc956911d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c956911d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cc956911d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c956911d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cc956911d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c956911d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cc956911d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c956911d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cc956911d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c956911d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cc956911d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cc956911d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cc956911d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c956911d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cc956911d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cc956911d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cc956911d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ce5780d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cce5780d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ce5780d2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cce5780d2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ce5780d2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cce5780d2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cce5780d2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cce5780d2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ce5780d2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cce5780d2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cce5780d2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cce5780d2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cce5780d2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cce5780d2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cce5780d2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cce5780d2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cce5780d2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cce5780d2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cce5780d2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cce5780d2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ce5780d2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cce5780d2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c956911d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cc956911d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07" name="Google Shape;107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" name="Google Shape;108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32" name="Google Shape;132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 sz="5600"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>
                <a:solidFill>
                  <a:srgbClr val="FFFFFF"/>
                </a:solidFill>
              </a:rPr>
              <a:t>Aula 02: Padrões de projeto criacionais - parte 1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3300b8278_0_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principal desafio quando se está projetando um software orientado a objetos é a ideia de se programar para uma interface ao invés de uma implementação.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ideia é fazer uso massivo de abstrações para modelar os componentes do software.</a:t>
            </a:r>
            <a:endParaRPr/>
          </a:p>
        </p:txBody>
      </p:sp>
      <p:sp>
        <p:nvSpPr>
          <p:cNvPr id="367" name="Google Shape;367;g253300b8278_0_9"/>
          <p:cNvSpPr txBox="1"/>
          <p:nvPr>
            <p:ph type="title"/>
          </p:nvPr>
        </p:nvSpPr>
        <p:spPr>
          <a:xfrm>
            <a:off x="3041925" y="1714800"/>
            <a:ext cx="5500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INTERFACES X IMPLEMENTAÇÕES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cce5780d26_0_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INTERFACES X IMPLEMENTAÇÕES</a:t>
            </a:r>
            <a:endParaRPr/>
          </a:p>
        </p:txBody>
      </p:sp>
      <p:sp>
        <p:nvSpPr>
          <p:cNvPr id="373" name="Google Shape;373;g3cce5780d26_0_0"/>
          <p:cNvSpPr txBox="1"/>
          <p:nvPr/>
        </p:nvSpPr>
        <p:spPr>
          <a:xfrm>
            <a:off x="427425" y="976575"/>
            <a:ext cx="3956400" cy="4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"SELECT * FROM users"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.conn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findUsers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.conn.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g3cce5780d26_0_0"/>
          <p:cNvSpPr txBox="1"/>
          <p:nvPr/>
        </p:nvSpPr>
        <p:spPr>
          <a:xfrm>
            <a:off x="4787300" y="1064875"/>
            <a:ext cx="3956400" cy="20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(conn);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(repo.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findUsers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5" name="Google Shape;375;g3cce5780d26_0_0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330" y="4167400"/>
            <a:ext cx="873900" cy="8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ce5780d26_0_1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INTERFACES X IMPLEMENTAÇÕES</a:t>
            </a:r>
            <a:endParaRPr/>
          </a:p>
        </p:txBody>
      </p:sp>
      <p:sp>
        <p:nvSpPr>
          <p:cNvPr id="381" name="Google Shape;381;g3cce5780d26_0_11"/>
          <p:cNvSpPr txBox="1"/>
          <p:nvPr/>
        </p:nvSpPr>
        <p:spPr>
          <a:xfrm>
            <a:off x="427425" y="948079"/>
            <a:ext cx="4687500" cy="4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MySQLDbConnection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i="1" sz="90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"SELECT * FROM users"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.conn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findUsers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.conn.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" name="Google Shape;382;g3cce5780d26_0_11"/>
          <p:cNvSpPr txBox="1"/>
          <p:nvPr/>
        </p:nvSpPr>
        <p:spPr>
          <a:xfrm>
            <a:off x="4879925" y="1012200"/>
            <a:ext cx="38427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i="1"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MySQLDbConnection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(conn);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(repo.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findUsers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3" name="Google Shape;383;g3cce5780d26_0_11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364" y="4166238"/>
            <a:ext cx="877824" cy="86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c956911d0_0_37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grupo GoF definiu em seu livro uma classificação para agrupar padrões de projeto de acordo com sua finalidade. São elas: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criacionais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estruturais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comportamentais</a:t>
            </a:r>
            <a:endParaRPr/>
          </a:p>
        </p:txBody>
      </p:sp>
      <p:sp>
        <p:nvSpPr>
          <p:cNvPr id="389" name="Google Shape;389;g3cc956911d0_0_3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DE PROJETOS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c7ff05725_0_5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criacionais focam na instanciação de objetos, tornando o sistema independente de criação, representação e composição dos objetos.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diversas abordagens de criação de objetos.</a:t>
            </a:r>
            <a:endParaRPr/>
          </a:p>
        </p:txBody>
      </p:sp>
      <p:sp>
        <p:nvSpPr>
          <p:cNvPr id="395" name="Google Shape;395;g3cc7ff05725_0_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CRIACIONAIS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c7ff05725_0_1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ABSTRACT FACTORY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53300b8278_0_11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Fornecer uma interface para criação de famílias de objetos relacionados ou dependentes sem especificar suas classes concretas.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p.95</a:t>
            </a:r>
            <a:endParaRPr/>
          </a:p>
        </p:txBody>
      </p:sp>
      <p:sp>
        <p:nvSpPr>
          <p:cNvPr id="406" name="Google Shape;406;g253300b8278_0_11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07" name="Google Shape;407;g253300b8278_0_11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253300b8278_0_11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253300b8278_0_11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g253300b8278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1495975"/>
            <a:ext cx="2632250" cy="26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c7ff05725_0_2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Considere um cenário em que estamos implementando um toolkit de interface de usuários com suporte a múltiplos estilos de interação.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Com diferentes estilos de interação, temos o desafio de trabalhar com diferentes apresentações e comportamentos para widgets da interface.</a:t>
            </a:r>
            <a:endParaRPr/>
          </a:p>
        </p:txBody>
      </p:sp>
      <p:sp>
        <p:nvSpPr>
          <p:cNvPr id="416" name="Google Shape;416;g3cc7ff05725_0_2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17" name="Google Shape;417;g3cc7ff05725_0_2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cc7ff05725_0_2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cc7ff05725_0_2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g3cc7ff05725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1495975"/>
            <a:ext cx="2632250" cy="26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c7ff05725_0_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26" name="Google Shape;426;g3cc7ff05725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688" y="1064850"/>
            <a:ext cx="4498620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c956911d0_0_1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AbstractFactory</a:t>
            </a:r>
            <a:r>
              <a:rPr lang="pt-BR"/>
              <a:t>: interface que declara as rotinas de criação de objetos-produto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Product</a:t>
            </a:r>
            <a:r>
              <a:rPr lang="pt-BR"/>
              <a:t>: interface que declara um objeto-produto abstrato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ProductX</a:t>
            </a:r>
            <a:r>
              <a:rPr lang="pt-BR"/>
              <a:t>: implementação de um objeto produto que pertence a uma determinada família de objetos-produto</a:t>
            </a:r>
            <a:endParaRPr/>
          </a:p>
        </p:txBody>
      </p:sp>
      <p:sp>
        <p:nvSpPr>
          <p:cNvPr id="432" name="Google Shape;432;g3cc956911d0_0_1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c956911d0_0_2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FactoryX</a:t>
            </a:r>
            <a:r>
              <a:rPr lang="pt-BR"/>
              <a:t>: implementação de uma fábrica de objetos-produto de uma determinada família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apenas das interfaces que declaram os objetos-produto e a fábrica de objetos</a:t>
            </a:r>
            <a:endParaRPr/>
          </a:p>
        </p:txBody>
      </p:sp>
      <p:sp>
        <p:nvSpPr>
          <p:cNvPr id="438" name="Google Shape;438;g3cc956911d0_0_2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c956911d0_0_27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Normalmente uma única instância de fábrica concreta é criada em tempo de execução, sendo responsável por criar objetos de uma família específica.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 cenário, a criação de objetos-produto é adiada para as subclasses de fábrica concreta.</a:t>
            </a:r>
            <a:endParaRPr/>
          </a:p>
        </p:txBody>
      </p:sp>
      <p:sp>
        <p:nvSpPr>
          <p:cNvPr id="444" name="Google Shape;444;g3cc956911d0_0_2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c7ff05725_0_46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uma fábrica de cadeiras que produz diferentes estilos de cadeiras para o mercado (gamer, escritório, barzinho etc).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Temos diferentes estilos de cadeiras para fabricar, onde o resultado é um tipo específico de cadeira para o mercado.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esta fábrica.</a:t>
            </a:r>
            <a:endParaRPr/>
          </a:p>
        </p:txBody>
      </p:sp>
      <p:sp>
        <p:nvSpPr>
          <p:cNvPr id="450" name="Google Shape;450;g3cc7ff05725_0_46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51" name="Google Shape;451;g3cc7ff05725_0_46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cc7ff05725_0_4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cc7ff05725_0_4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g3cc7ff05725_0_46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cc7ff05725_0_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60" name="Google Shape;460;g3cc7ff05725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183" y="986501"/>
            <a:ext cx="6671635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c7ff05725_0_37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Quando estamos desenvolvendo software seguindo especificações de mercado, uma das atividades mais comuns é a conexão de uma aplicação com um banco de dados.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Por se tratar de especificações de mercado, é interessante que as bibliotecas de conexão dêem suporte a diversas implementações de bancos de dados, mantendo uma flexibilidade na utilização dentro das aplicações.</a:t>
            </a:r>
            <a:endParaRPr/>
          </a:p>
        </p:txBody>
      </p:sp>
      <p:sp>
        <p:nvSpPr>
          <p:cNvPr id="466" name="Google Shape;466;g3cc7ff05725_0_3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67" name="Google Shape;467;g3cc7ff05725_0_3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cc7ff05725_0_3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cc7ff05725_0_3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3cc7ff05725_0_37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c956911d0_0_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c7ff05725_0_0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deve ser independente de como seus produtos são criados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deve ser configurado com uma família de múltiplos produtos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Uma família de objetos foi projetada para ser usada em conjunto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Fornecer uma biblioteca de classes de produtos</a:t>
            </a:r>
            <a:endParaRPr/>
          </a:p>
        </p:txBody>
      </p:sp>
      <p:sp>
        <p:nvSpPr>
          <p:cNvPr id="481" name="Google Shape;481;g3cc7ff05725_0_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c956911d0_0_3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Isolamento das classes concretas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Facilidade na troca de família de produtos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Promove harmonia entre produtos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É difícil de suportar novos tipos de produtos</a:t>
            </a:r>
            <a:endParaRPr/>
          </a:p>
        </p:txBody>
      </p:sp>
      <p:sp>
        <p:nvSpPr>
          <p:cNvPr id="487" name="Google Shape;487;g3cc956911d0_0_3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c956911d0_0_4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BUILDER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c956911d0_0_4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Separar a construção de um objeto complexo da sua representação, de modo que o mesmo processo de construção possa criar diferentes representações.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p.104</a:t>
            </a:r>
            <a:endParaRPr/>
          </a:p>
        </p:txBody>
      </p:sp>
      <p:sp>
        <p:nvSpPr>
          <p:cNvPr id="498" name="Google Shape;498;g3cc956911d0_0_4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99" name="Google Shape;499;g3cc956911d0_0_4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cc956911d0_0_4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cc956911d0_0_4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g3cc956911d0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7" y="1932287"/>
            <a:ext cx="3128224" cy="175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c956911d0_0_5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Considere a criação de um objeto que representa dados de um produto movimentado pelo setor de logística. Dependendo do produto, temos uma quantidade considerável de parâmetros para configurar na criação dessa representação, o que pode causar confusões.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Esse é um ótimo cenário para aplicação do padrão Builder.</a:t>
            </a:r>
            <a:endParaRPr/>
          </a:p>
        </p:txBody>
      </p:sp>
      <p:sp>
        <p:nvSpPr>
          <p:cNvPr id="508" name="Google Shape;508;g3cc956911d0_0_5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509" name="Google Shape;509;g3cc956911d0_0_5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cc956911d0_0_5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cc956911d0_0_5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g3cc956911d0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7" y="1932287"/>
            <a:ext cx="3128224" cy="175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cc956911d0_0_6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18" name="Google Shape;518;g3cc956911d0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845" y="1014997"/>
            <a:ext cx="5106309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c956911d0_0_7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ComplexObject</a:t>
            </a:r>
            <a:r>
              <a:rPr lang="pt-BR"/>
              <a:t>: objeto que possui um processo de criação complexo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Builder</a:t>
            </a:r>
            <a:r>
              <a:rPr lang="pt-BR"/>
              <a:t>: interface que declara um construtor de objetos complexos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ConcreteBuilder</a:t>
            </a:r>
            <a:r>
              <a:rPr lang="pt-BR"/>
              <a:t>: implementação de um construtor de objetos complexos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da abstração de construção de objetos</a:t>
            </a:r>
            <a:endParaRPr/>
          </a:p>
        </p:txBody>
      </p:sp>
      <p:sp>
        <p:nvSpPr>
          <p:cNvPr id="524" name="Google Shape;524;g3cc956911d0_0_7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c956911d0_0_7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cliente utiliza uma instância de construtor de objetos e, ao longo do fluxo, ocorrem interações para preenchimento de partes do objeto de forma contínua.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final, o cliente solicita ao construtor a criação do objeto final devidamente preenchido, recuperando-o.</a:t>
            </a:r>
            <a:endParaRPr/>
          </a:p>
        </p:txBody>
      </p:sp>
      <p:sp>
        <p:nvSpPr>
          <p:cNvPr id="530" name="Google Shape;530;g3cc956911d0_0_7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c956911d0_0_84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Voltando ao problema da movimentação de produtos no setor de logística, vamos implementar uma interação de criação de objetos de produtos configurando os parâmetros de acordo com a necessidade.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utilizar o diagrama a seguir para basear nossa implementação.</a:t>
            </a:r>
            <a:endParaRPr/>
          </a:p>
        </p:txBody>
      </p:sp>
      <p:sp>
        <p:nvSpPr>
          <p:cNvPr id="536" name="Google Shape;536;g3cc956911d0_0_84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37" name="Google Shape;537;g3cc956911d0_0_84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cc956911d0_0_8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cc956911d0_0_8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g3cc956911d0_0_84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c956911d0_0_9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46" name="Google Shape;546;g3cc956911d0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826" y="1014997"/>
            <a:ext cx="5038348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c956911d0_0_99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novamente o problema anterior, agora seguindo uma outra abordagem de criação de objetos.</a:t>
            </a:r>
            <a:endParaRPr/>
          </a:p>
        </p:txBody>
      </p:sp>
      <p:sp>
        <p:nvSpPr>
          <p:cNvPr id="552" name="Google Shape;552;g3cc956911d0_0_99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53" name="Google Shape;553;g3cc956911d0_0_99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cc956911d0_0_9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cc956911d0_0_9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g3cc956911d0_0_99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cc956911d0_0_108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uma arquitetura orientada a domínio, nós temos a atividade comum de converter objetos da camada de aplicação para a camada de domínio.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As abstrações das camadas de aplicação e domínio possuem comportamentos ligeiramente diferentes, com uma certa complexidade envolvida entre elas.</a:t>
            </a:r>
            <a:endParaRPr/>
          </a:p>
        </p:txBody>
      </p:sp>
      <p:sp>
        <p:nvSpPr>
          <p:cNvPr id="562" name="Google Shape;562;g3cc956911d0_0_108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63" name="Google Shape;563;g3cc956911d0_0_108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cc956911d0_0_10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cc956911d0_0_10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g3cc956911d0_0_108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c956911d0_0_11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c956911d0_0_12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que faz uso de objetos complexos para criação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que faz uso extensivo de objetos muito carregados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que envolve lógicas relevantes para criação de objetos</a:t>
            </a:r>
            <a:endParaRPr/>
          </a:p>
        </p:txBody>
      </p:sp>
      <p:sp>
        <p:nvSpPr>
          <p:cNvPr id="577" name="Google Shape;577;g3cc956911d0_0_12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c956911d0_0_127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Permite variar a representação interna de um objeto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Isolar o código de construção e representação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Oferece um controle mais fino do processo de construção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Declaração de uma interface às vezes desnecessária para o contexto</a:t>
            </a:r>
            <a:endParaRPr/>
          </a:p>
        </p:txBody>
      </p:sp>
      <p:sp>
        <p:nvSpPr>
          <p:cNvPr id="583" name="Google Shape;583;g3cc956911d0_0_12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ce5780d26_0_23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FACTORY METHOD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ce5780d26_0_2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Definir uma interface para criar um objeto, mas deixando as subclasses decidirem que classe instanciar. O Factory Method permite adiar a instanciação para subclasses.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p.112</a:t>
            </a:r>
            <a:endParaRPr/>
          </a:p>
        </p:txBody>
      </p:sp>
      <p:sp>
        <p:nvSpPr>
          <p:cNvPr id="594" name="Google Shape;594;g3cce5780d26_0_2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95" name="Google Shape;595;g3cce5780d26_0_2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cce5780d26_0_2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cce5780d26_0_2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3cce5780d26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1495975"/>
            <a:ext cx="2632250" cy="26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ce5780d26_0_3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PERAE</a:t>
            </a:r>
            <a:endParaRPr/>
          </a:p>
        </p:txBody>
      </p:sp>
      <p:sp>
        <p:nvSpPr>
          <p:cNvPr id="604" name="Google Shape;604;g3cce5780d26_0_36"/>
          <p:cNvSpPr txBox="1"/>
          <p:nvPr/>
        </p:nvSpPr>
        <p:spPr>
          <a:xfrm>
            <a:off x="720725" y="2329500"/>
            <a:ext cx="1879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FACTORY METHOD?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05" name="Google Shape;605;g3cce5780d26_0_36"/>
          <p:cNvSpPr txBox="1"/>
          <p:nvPr/>
        </p:nvSpPr>
        <p:spPr>
          <a:xfrm>
            <a:off x="6499875" y="2329500"/>
            <a:ext cx="20061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ABSTRACT FACTORY?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06" name="Google Shape;606;g3cce5780d26_0_36" title="emojibugado-furious-unscree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8800" y="1439700"/>
            <a:ext cx="2264100" cy="22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cce5780d26_0_10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uma operação de extração de múltiplos documentos para um usuário. Quando este usuário solicita a exportação dos dados de um relatório, podem ser apresentados diversos formatos de arquivo para emitir o relatório.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Mediante a escolha do usuário, a aplicação prepara a formatação do arquivo com os exatos dados do relatório.</a:t>
            </a:r>
            <a:endParaRPr/>
          </a:p>
        </p:txBody>
      </p:sp>
      <p:sp>
        <p:nvSpPr>
          <p:cNvPr id="612" name="Google Shape;612;g3cce5780d26_0_10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613" name="Google Shape;613;g3cce5780d26_0_10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cce5780d26_0_10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cce5780d26_0_10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g3cce5780d26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1495975"/>
            <a:ext cx="2632250" cy="26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cce5780d26_0_5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22" name="Google Shape;622;g3cce5780d26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13" y="1138238"/>
            <a:ext cx="879157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ce5780d26_0_65"/>
          <p:cNvSpPr txBox="1"/>
          <p:nvPr>
            <p:ph idx="1" type="body"/>
          </p:nvPr>
        </p:nvSpPr>
        <p:spPr>
          <a:xfrm>
            <a:off x="4579525" y="2419493"/>
            <a:ext cx="39327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Factory</a:t>
            </a:r>
            <a:r>
              <a:rPr lang="pt-BR"/>
              <a:t>: interface que declara a operação de fabricação de um objeto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ConcreteFactory</a:t>
            </a:r>
            <a:r>
              <a:rPr lang="pt-BR"/>
              <a:t>: implementação da operação de fabricação de objetos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Product</a:t>
            </a:r>
            <a:r>
              <a:rPr lang="pt-BR"/>
              <a:t>: interface que abstrai a representação de um objeto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ConcreteProduct</a:t>
            </a:r>
            <a:r>
              <a:rPr lang="pt-BR"/>
              <a:t>: implementação da classe de representação de um objeto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da abstração de fabricação de objetos</a:t>
            </a:r>
            <a:endParaRPr/>
          </a:p>
        </p:txBody>
      </p:sp>
      <p:sp>
        <p:nvSpPr>
          <p:cNvPr id="628" name="Google Shape;628;g3cce5780d26_0_6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cce5780d26_0_70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cliente utiliza uma instância de fabricação de objetos de acordo com uma determinada operação, sem saber de forma direta qual tipo de objeto está sendo criado.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ele sabe é que o objeto retornado estará de acordo com a necessidade do fluxo de execução.</a:t>
            </a:r>
            <a:endParaRPr/>
          </a:p>
        </p:txBody>
      </p:sp>
      <p:sp>
        <p:nvSpPr>
          <p:cNvPr id="634" name="Google Shape;634;g3cce5780d26_0_7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cce5780d26_0_75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Uma empresa de logística vai começar a realizar entregas de mercadorias em diferentes modais, de acordo com o tipo de frete praticado.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Por exemplo, a empresa começa realizando entregas de caminhão, mas depois passa a fazer uso de entregas com navio e avião. O sistema de gestão de frete deve ser capaz de gerar o modal de transporte de forma transparente, de acordo com o tipo de frete.</a:t>
            </a:r>
            <a:endParaRPr/>
          </a:p>
        </p:txBody>
      </p:sp>
      <p:sp>
        <p:nvSpPr>
          <p:cNvPr id="640" name="Google Shape;640;g3cce5780d26_0_75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41" name="Google Shape;641;g3cce5780d26_0_75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cce5780d26_0_7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cce5780d26_0_7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g3cce5780d26_0_75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cce5780d26_0_8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50" name="Google Shape;650;g3cce5780d26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15" y="1057725"/>
            <a:ext cx="8729970" cy="38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cce5780d26_0_91"/>
          <p:cNvSpPr txBox="1"/>
          <p:nvPr>
            <p:ph idx="1" type="body"/>
          </p:nvPr>
        </p:nvSpPr>
        <p:spPr>
          <a:xfrm>
            <a:off x="4579525" y="2540600"/>
            <a:ext cx="3932700" cy="2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Uma classe não pode antecipar a classe de objetos que deve criar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Uma classe quer que suas subclasses especifiquem os objetos que deve criar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Classes delegam responsabilidade para uma dentre várias subclasses auxiliares, e você quer localizar o conhecimento de qual subclasse auxiliar que é delegada</a:t>
            </a:r>
            <a:endParaRPr/>
          </a:p>
        </p:txBody>
      </p:sp>
      <p:sp>
        <p:nvSpPr>
          <p:cNvPr id="656" name="Google Shape;656;g3cce5780d26_0_9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ce5780d26_0_96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Fornecer ganchos para subclasses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Conecta hierarquia de classes paralelas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Oferece um controle mais fino do processo de construção</a:t>
            </a:r>
            <a:endParaRPr/>
          </a:p>
        </p:txBody>
      </p:sp>
      <p:sp>
        <p:nvSpPr>
          <p:cNvPr id="662" name="Google Shape;662;g3cce5780d26_0_9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cc956911d0_0_132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Programar para uma interface ao invés de uma implementação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criacionais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Abstract Factory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Builder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Factory Method</a:t>
            </a:r>
            <a:endParaRPr/>
          </a:p>
        </p:txBody>
      </p:sp>
      <p:sp>
        <p:nvSpPr>
          <p:cNvPr id="668" name="Google Shape;668;g3cc956911d0_0_132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69" name="Google Shape;669;g3cc956911d0_0_132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cc956911d0_0_13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cc956911d0_0_13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2" name="Google Shape;672;g3cc956911d0_0_132"/>
          <p:cNvPicPr preferRelativeResize="0"/>
          <p:nvPr/>
        </p:nvPicPr>
        <p:blipFill rotWithShape="1">
          <a:blip r:embed="rId3">
            <a:alphaModFix/>
          </a:blip>
          <a:srcRect b="7843" l="0" r="5357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78" name="Google Shape;678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NÃO EXISTE TRABALHO RUIM, O RUIM É TER QUE TRABALHAR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Seu Madruga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88" y="1601050"/>
            <a:ext cx="2002919" cy="2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