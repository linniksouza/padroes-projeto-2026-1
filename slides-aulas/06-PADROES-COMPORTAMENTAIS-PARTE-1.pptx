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Proxima Nova"/>
      <p:regular r:id="rId50"/>
      <p:bold r:id="rId51"/>
      <p:italic r:id="rId52"/>
      <p:boldItalic r:id="rId53"/>
    </p:embeddedFont>
    <p:embeddedFont>
      <p:font typeface="Anaheim"/>
      <p:regular r:id="rId54"/>
      <p:bold r:id="rId55"/>
    </p:embeddedFont>
    <p:embeddedFont>
      <p:font typeface="Barlow Condensed ExtraBold"/>
      <p:bold r:id="rId56"/>
      <p:boldItalic r:id="rId57"/>
    </p:embeddedFont>
    <p:embeddedFont>
      <p:font typeface="Proxima Nova Semibold"/>
      <p:regular r:id="rId58"/>
      <p:bold r:id="rId59"/>
      <p:boldItalic r:id="rId60"/>
    </p:embeddedFont>
    <p:embeddedFont>
      <p:font typeface="Overpass Mono"/>
      <p:regular r:id="rId61"/>
      <p:bold r:id="rId62"/>
    </p:embeddedFont>
    <p:embeddedFont>
      <p:font typeface="Barlow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7" roundtripDataSignature="AMtx7mj3QFDPvOkMX7LnMvgsRkSaM8RL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verpassMono-bold.fntdata"/><Relationship Id="rId61" Type="http://schemas.openxmlformats.org/officeDocument/2006/relationships/font" Target="fonts/OverpassMono-regular.fntdata"/><Relationship Id="rId20" Type="http://schemas.openxmlformats.org/officeDocument/2006/relationships/slide" Target="slides/slide15.xml"/><Relationship Id="rId64" Type="http://schemas.openxmlformats.org/officeDocument/2006/relationships/font" Target="fonts/Barlow-bold.fntdata"/><Relationship Id="rId63" Type="http://schemas.openxmlformats.org/officeDocument/2006/relationships/font" Target="fonts/Barlow-regular.fntdata"/><Relationship Id="rId22" Type="http://schemas.openxmlformats.org/officeDocument/2006/relationships/slide" Target="slides/slide17.xml"/><Relationship Id="rId66" Type="http://schemas.openxmlformats.org/officeDocument/2006/relationships/font" Target="fonts/Barlow-boldItalic.fntdata"/><Relationship Id="rId21" Type="http://schemas.openxmlformats.org/officeDocument/2006/relationships/slide" Target="slides/slide16.xml"/><Relationship Id="rId65" Type="http://schemas.openxmlformats.org/officeDocument/2006/relationships/font" Target="fonts/Barlow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customschemas.google.com/relationships/presentationmetadata" Target="metadata"/><Relationship Id="rId60" Type="http://schemas.openxmlformats.org/officeDocument/2006/relationships/font" Target="fonts/ProximaNovaSemibold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roximaNova-bold.fntdata"/><Relationship Id="rId50" Type="http://schemas.openxmlformats.org/officeDocument/2006/relationships/font" Target="fonts/ProximaNova-regular.fntdata"/><Relationship Id="rId53" Type="http://schemas.openxmlformats.org/officeDocument/2006/relationships/font" Target="fonts/ProximaNova-boldItalic.fntdata"/><Relationship Id="rId52" Type="http://schemas.openxmlformats.org/officeDocument/2006/relationships/font" Target="fonts/ProximaNova-italic.fntdata"/><Relationship Id="rId11" Type="http://schemas.openxmlformats.org/officeDocument/2006/relationships/slide" Target="slides/slide6.xml"/><Relationship Id="rId55" Type="http://schemas.openxmlformats.org/officeDocument/2006/relationships/font" Target="fonts/Anaheim-bold.fntdata"/><Relationship Id="rId10" Type="http://schemas.openxmlformats.org/officeDocument/2006/relationships/slide" Target="slides/slide5.xml"/><Relationship Id="rId54" Type="http://schemas.openxmlformats.org/officeDocument/2006/relationships/font" Target="fonts/Anaheim-regular.fntdata"/><Relationship Id="rId13" Type="http://schemas.openxmlformats.org/officeDocument/2006/relationships/slide" Target="slides/slide8.xml"/><Relationship Id="rId57" Type="http://schemas.openxmlformats.org/officeDocument/2006/relationships/font" Target="fonts/BarlowCondensedExtraBold-boldItalic.fntdata"/><Relationship Id="rId12" Type="http://schemas.openxmlformats.org/officeDocument/2006/relationships/slide" Target="slides/slide7.xml"/><Relationship Id="rId56" Type="http://schemas.openxmlformats.org/officeDocument/2006/relationships/font" Target="fonts/BarlowCondensedExtraBold-bold.fntdata"/><Relationship Id="rId15" Type="http://schemas.openxmlformats.org/officeDocument/2006/relationships/slide" Target="slides/slide10.xml"/><Relationship Id="rId59" Type="http://schemas.openxmlformats.org/officeDocument/2006/relationships/font" Target="fonts/ProximaNovaSemibold-bold.fntdata"/><Relationship Id="rId14" Type="http://schemas.openxmlformats.org/officeDocument/2006/relationships/slide" Target="slides/slide9.xml"/><Relationship Id="rId58" Type="http://schemas.openxmlformats.org/officeDocument/2006/relationships/font" Target="fonts/ProximaNovaSemibold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390257b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d390257b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390257bff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d390257bff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390257bff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d390257bf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0a6dd2528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20a6dd2528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390257bff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d390257bff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390257bff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d390257bff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390257bff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d390257bff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390257bff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d390257bff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390257bff_0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d390257bff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390257bff_0_1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d390257bff_0_1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390257bff_0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d390257bff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390257bff_0_1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d390257bff_0_1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d390257bff_0_1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d390257bff_0_1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390257bff_0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d390257bff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390257bff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d390257bff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d390257bff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d390257bff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d390257bff_0_1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d390257bff_0_1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390257bff_0_1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d390257bff_0_1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390257bff_0_1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d390257bff_0_1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390257bff_0_2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d390257bff_0_2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390257bff_0_2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d390257bff_0_2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390257bff_0_2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d390257bff_0_2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390257bff_0_2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d390257bff_0_2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390257bff_0_2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d390257bff_0_2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d390257bff_0_2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d390257bff_0_2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d390257bff_0_2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d390257bff_0_2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390257bff_0_2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d390257bff_0_2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d390257bff_0_2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d390257bff_0_2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d390257bff_0_1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3d390257bff_0_1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d390257bff_0_2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d390257bff_0_2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390257bff_0_2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d390257bff_0_2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3d5ad8e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d3d5ad8e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d3d5ad8e7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g3d3d5ad8e7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d3d5ad8e7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d3d5ad8e7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3d5ad8e7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d3d5ad8e7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d3d5ad8e7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d3d5ad8e7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d3d5ad8e7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d3d5ad8e7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d3d5ad8e7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g3d3d5ad8e7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d3d5ad8e7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g3d3d5ad8e7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d3d5ad8e7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g3d3d5ad8e7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3d5ad8e7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g3d3d5ad8e7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0a70d3dc02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g20a70d3dc02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47" name="Google Shape;47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2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32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2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60" name="Google Shape;60;p33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3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3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4" name="Google Shape;94;p35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35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8" name="Google Shape;98;p35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01" name="Google Shape;101;p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5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0" name="Google Shape;110;p5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5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6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6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6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6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6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6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6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6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6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6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6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6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7ED"/>
              </a:buClr>
              <a:buSzPts val="8000"/>
              <a:buNone/>
              <a:defRPr sz="8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9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9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9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1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7" name="Google Shape;187;p42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1" name="Google Shape;191;p43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3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3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3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3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3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5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206" name="Google Shape;206;p45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5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5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5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5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5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5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6" name="Google Shape;226;p45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30" name="Google Shape;230;p45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31" name="Google Shape;231;p45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6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6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6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0" name="Google Shape;240;p46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1" name="Google Shape;241;p46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47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47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47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63" name="Google Shape;263;p48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1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4" name="Google Shape;294;p51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1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300" name="Google Shape;300;p52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2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2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3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8" name="Google Shape;308;p53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3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0" name="Google Shape;310;p5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8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38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5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5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5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5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5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5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5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5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5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5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gif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gif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ARA0110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PADRÕES DE PROJETO</a:t>
            </a:r>
            <a:endParaRPr/>
          </a:p>
        </p:txBody>
      </p:sp>
      <p:sp>
        <p:nvSpPr>
          <p:cNvPr id="356" name="Google Shape;356;p1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>
                <a:solidFill>
                  <a:srgbClr val="FFFFFF"/>
                </a:solidFill>
              </a:rPr>
              <a:t>Aula 06: Padrões de projeto comportamentais - parte 1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390257bff_0_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RECAPITULANDO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390257bff_0_318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O grupo GoF definiu em seu livro uma classificação para agrupar padrões de projeto de acordo com sua finalidade. São elas: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Padrões criacionais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Padrões estruturais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Padrões comportamentais</a:t>
            </a:r>
            <a:endParaRPr/>
          </a:p>
        </p:txBody>
      </p:sp>
      <p:sp>
        <p:nvSpPr>
          <p:cNvPr id="367" name="Google Shape;367;g3d390257bff_0_31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PADRÕES DE PROJETOS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390257bff_0_323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padrões de projeto comportamentais focam em algoritmos e atribuição de responsabilidades entre objetos, descrevendo padrões de comunicação entre eles.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Nesses padrões, encontramos uso intensivo de polimorfismo.</a:t>
            </a:r>
            <a:endParaRPr/>
          </a:p>
        </p:txBody>
      </p:sp>
      <p:sp>
        <p:nvSpPr>
          <p:cNvPr id="373" name="Google Shape;373;g3d390257bff_0_323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PADRÕES COMPORTAMENTAIS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0a6dd2528c_0_4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CHAIN OF RESPONSIBILITY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390257bff_0_646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Evitar o acoplamento do remetente de uma solicitação ao seu receptor, ao dar à mais de um objeto a oportunidade de tratar a solicitação. Encadear os objetos receptores, passando a solicitação ao longo da cadeia até que um objeto a trate.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p.212</a:t>
            </a:r>
            <a:endParaRPr/>
          </a:p>
        </p:txBody>
      </p:sp>
      <p:sp>
        <p:nvSpPr>
          <p:cNvPr id="384" name="Google Shape;384;g3d390257bff_0_646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385" name="Google Shape;385;g3d390257bff_0_646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d390257bff_0_646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d390257bff_0_646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g3d390257bff_0_6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1" y="1510400"/>
            <a:ext cx="3120300" cy="26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390257bff_0_655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frameworks como Express.js ou Spring Boot, as requisições HTTP passam por uma série de middlewares antes de chegar ao controlador final. Em cada middleware, ocorre a tentativa de tratamento e, se não for o objetivo, ele repassa a requisição para o próximo middleware da cadeia até chegar no controlador que vai tratar a requisição.</a:t>
            </a:r>
            <a:endParaRPr/>
          </a:p>
        </p:txBody>
      </p:sp>
      <p:sp>
        <p:nvSpPr>
          <p:cNvPr id="394" name="Google Shape;394;g3d390257bff_0_655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395" name="Google Shape;395;g3d390257bff_0_655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d390257bff_0_655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d390257bff_0_655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g3d390257bff_0_6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1" y="1510400"/>
            <a:ext cx="3120300" cy="26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390257bff_0_66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04" name="Google Shape;404;g3d390257bff_0_6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175" y="1012196"/>
            <a:ext cx="7713650" cy="3901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390257bff_0_669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Handler</a:t>
            </a:r>
            <a:r>
              <a:rPr lang="pt-BR"/>
              <a:t>: interface definida para tratar as solicitações. Nela temos uma sucessão ao próximo elo da cadeia.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ConcreteHandlerX</a:t>
            </a:r>
            <a:r>
              <a:rPr lang="pt-BR"/>
              <a:t>: implementação do tratamento das solicitações que as competem, e direcionando as outras para os sucessores.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inicia a solicitação no primeiro Handler da cadeia.</a:t>
            </a:r>
            <a:endParaRPr/>
          </a:p>
        </p:txBody>
      </p:sp>
      <p:sp>
        <p:nvSpPr>
          <p:cNvPr id="410" name="Google Shape;410;g3d390257bff_0_66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d390257bff_0_988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 cliente, definimos a cadeia de tratamento de solicitações com seus sucessores. Com o a cadeia de Handler configurada, o cliente faz as solicitações necessárias. Em cada ConcreteHandler ocorre a execução ou o redirecionamento das solicitações.</a:t>
            </a:r>
            <a:endParaRPr/>
          </a:p>
        </p:txBody>
      </p:sp>
      <p:sp>
        <p:nvSpPr>
          <p:cNvPr id="416" name="Google Shape;416;g3d390257bff_0_98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390257bff_0_1307"/>
          <p:cNvSpPr txBox="1"/>
          <p:nvPr>
            <p:ph idx="1" type="body"/>
          </p:nvPr>
        </p:nvSpPr>
        <p:spPr>
          <a:xfrm>
            <a:off x="4401425" y="1997200"/>
            <a:ext cx="4187100" cy="29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sistemas bancários, uma transação pode precisar de diferentes níveis de aprovação dependendo do valor: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Gerente de conta</a:t>
            </a:r>
            <a:r>
              <a:rPr lang="pt-BR"/>
              <a:t>: Valores até R$ 5.000,00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Diretor Regional</a:t>
            </a:r>
            <a:r>
              <a:rPr lang="pt-BR"/>
              <a:t>: Valores entre R$ 5.000,00 e R$ 50.000,00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Conselho executivo</a:t>
            </a:r>
            <a:r>
              <a:rPr lang="pt-BR"/>
              <a:t>: Valores acima de R$ 50.000,00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implementar esse sistema de aprovações.</a:t>
            </a:r>
            <a:endParaRPr/>
          </a:p>
        </p:txBody>
      </p:sp>
      <p:sp>
        <p:nvSpPr>
          <p:cNvPr id="422" name="Google Shape;422;g3d390257bff_0_1307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23" name="Google Shape;423;g3d390257bff_0_1307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d390257bff_0_130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d390257bff_0_130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g3d390257bff_0_1307"/>
          <p:cNvPicPr preferRelativeResize="0"/>
          <p:nvPr/>
        </p:nvPicPr>
        <p:blipFill rotWithShape="1">
          <a:blip r:embed="rId3">
            <a:alphaModFix/>
          </a:blip>
          <a:srcRect b="0" l="22179" r="0" t="0"/>
          <a:stretch/>
        </p:blipFill>
        <p:spPr>
          <a:xfrm>
            <a:off x="-3" y="1574988"/>
            <a:ext cx="3224401" cy="2573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390257bff_0_131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32" name="Google Shape;432;g3d390257bff_0_13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96" y="1012200"/>
            <a:ext cx="8093009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d390257bff_0_1323"/>
          <p:cNvSpPr txBox="1"/>
          <p:nvPr>
            <p:ph idx="1" type="body"/>
          </p:nvPr>
        </p:nvSpPr>
        <p:spPr>
          <a:xfrm>
            <a:off x="4401425" y="1997200"/>
            <a:ext cx="4187100" cy="29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Imagine um sistema automatizado de atendimento ao cliente onde o problema é escalonado conforme a complexidade: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Nível 1 (Bot/FAQ)</a:t>
            </a:r>
            <a:r>
              <a:rPr lang="pt-BR"/>
              <a:t>: Resolve problemas simples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Nível 2 (Atendimento Humano)</a:t>
            </a:r>
            <a:r>
              <a:rPr lang="pt-BR"/>
              <a:t>: Resolve problemas técnicos padrão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Nível 3 (Engenheiro Especialista)</a:t>
            </a:r>
            <a:r>
              <a:rPr lang="pt-BR"/>
              <a:t>: Resolve bugs complexos ou falhas de infraestrutura</a:t>
            </a:r>
            <a:endParaRPr/>
          </a:p>
        </p:txBody>
      </p:sp>
      <p:sp>
        <p:nvSpPr>
          <p:cNvPr id="438" name="Google Shape;438;g3d390257bff_0_1323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39" name="Google Shape;439;g3d390257bff_0_1323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d390257bff_0_1323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d390257bff_0_1323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g3d390257bff_0_1323"/>
          <p:cNvPicPr preferRelativeResize="0"/>
          <p:nvPr/>
        </p:nvPicPr>
        <p:blipFill rotWithShape="1">
          <a:blip r:embed="rId3">
            <a:alphaModFix/>
          </a:blip>
          <a:srcRect b="0" l="22179" r="0" t="0"/>
          <a:stretch/>
        </p:blipFill>
        <p:spPr>
          <a:xfrm>
            <a:off x="-3" y="1574988"/>
            <a:ext cx="3224401" cy="2573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390257bff_0_133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390257bff_0_1337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Sistemas onde mais de um objeto pode tratar uma solicitação, se possível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Emitir uma solicitação para um dentre vários objetos, sem especificar o receptor de forma explícita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O conjunto de objetos que tratam uma solicitação pode ser especificada de forma dinâmica</a:t>
            </a:r>
            <a:endParaRPr/>
          </a:p>
        </p:txBody>
      </p:sp>
      <p:sp>
        <p:nvSpPr>
          <p:cNvPr id="453" name="Google Shape;453;g3d390257bff_0_1337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390257bff_0_1656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Acoplamento reduzido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Flexibilidade adicional na atribuição de responsabilidades a objetos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 recepção não é garantida (se não houver um receptor específico)</a:t>
            </a:r>
            <a:endParaRPr/>
          </a:p>
        </p:txBody>
      </p:sp>
      <p:sp>
        <p:nvSpPr>
          <p:cNvPr id="459" name="Google Shape;459;g3d390257bff_0_1656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390257bff_0_64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COMMAND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390257bff_0_1979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Encapsular uma solicitação como um objeto, desta forma permitindo parametrizar clientes com diferentes solicitações, enfileirar ou fazer o registro (log) de solicitações e suportar operações que podem ser desfeitas.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p.222</a:t>
            </a:r>
            <a:endParaRPr/>
          </a:p>
        </p:txBody>
      </p:sp>
      <p:sp>
        <p:nvSpPr>
          <p:cNvPr id="470" name="Google Shape;470;g3d390257bff_0_1979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471" name="Google Shape;471;g3d390257bff_0_1979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d390257bff_0_197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d390257bff_0_197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4" name="Google Shape;474;g3d390257bff_0_1979"/>
          <p:cNvPicPr preferRelativeResize="0"/>
          <p:nvPr/>
        </p:nvPicPr>
        <p:blipFill rotWithShape="1">
          <a:blip r:embed="rId3">
            <a:alphaModFix/>
          </a:blip>
          <a:srcRect b="0" l="11850" r="8563" t="0"/>
          <a:stretch/>
        </p:blipFill>
        <p:spPr>
          <a:xfrm>
            <a:off x="0" y="1672539"/>
            <a:ext cx="3224399" cy="2279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390257bff_0_1988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 editor de texto ou de imagem, cada ação (digitar, deletar, aplicar filtro) é tratada como um objeto de comando. O sistema armazena uma pilha de objetos de comando executados. Quando a ação de desfazer é acionada, o sistema pega o último comando da pilha e chama um método “undo”, que reverte o estado da edição.</a:t>
            </a:r>
            <a:endParaRPr/>
          </a:p>
        </p:txBody>
      </p:sp>
      <p:sp>
        <p:nvSpPr>
          <p:cNvPr id="480" name="Google Shape;480;g3d390257bff_0_1988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481" name="Google Shape;481;g3d390257bff_0_1988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d390257bff_0_198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d390257bff_0_198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g3d390257bff_0_1988"/>
          <p:cNvPicPr preferRelativeResize="0"/>
          <p:nvPr/>
        </p:nvPicPr>
        <p:blipFill rotWithShape="1">
          <a:blip r:embed="rId3">
            <a:alphaModFix/>
          </a:blip>
          <a:srcRect b="0" l="11850" r="8563" t="0"/>
          <a:stretch/>
        </p:blipFill>
        <p:spPr>
          <a:xfrm>
            <a:off x="0" y="1672539"/>
            <a:ext cx="3224399" cy="2279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390257bff_0_199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90" name="Google Shape;490;g3d390257bff_0_19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665" y="1012200"/>
            <a:ext cx="7424670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390257bff_0_2001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Command</a:t>
            </a:r>
            <a:r>
              <a:rPr lang="pt-BR"/>
              <a:t>: interface que define a execução de uma operação.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ConcreteCommand</a:t>
            </a:r>
            <a:r>
              <a:rPr lang="pt-BR"/>
              <a:t>: implementação da execução da operação, implementando-a através da invocação das operações em Receiver.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Receiver</a:t>
            </a:r>
            <a:r>
              <a:rPr lang="pt-BR"/>
              <a:t>: classe que sabe como executar as operações associadas a uma solicitação. Qualquer classe pode ser um Receiver.</a:t>
            </a:r>
            <a:endParaRPr/>
          </a:p>
        </p:txBody>
      </p:sp>
      <p:sp>
        <p:nvSpPr>
          <p:cNvPr id="496" name="Google Shape;496;g3d390257bff_0_200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390257bff_0_2011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Invoker</a:t>
            </a:r>
            <a:r>
              <a:rPr lang="pt-BR"/>
              <a:t>: classe que solicita ao comando a execução de uma solicitação.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cria um objeto ConcreteCommand e estabelece um receptor.</a:t>
            </a:r>
            <a:endParaRPr/>
          </a:p>
        </p:txBody>
      </p:sp>
      <p:sp>
        <p:nvSpPr>
          <p:cNvPr id="502" name="Google Shape;502;g3d390257bff_0_201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390257bff_0_2006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cliente cria um objeto ConcreteCommand e especifica o seu receptor. Junto disso, um objeto Invoker armazena o objeto ConcreteCommand. Na ação de invocar um comando, a solicitação é enviada para que sejam tratadas pelo Command, armazenando estado para que seja possível desfazer antes de invocar a sua execução.</a:t>
            </a:r>
            <a:endParaRPr/>
          </a:p>
        </p:txBody>
      </p:sp>
      <p:sp>
        <p:nvSpPr>
          <p:cNvPr id="508" name="Google Shape;508;g3d390257bff_0_2006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d390257bff_0_2021"/>
          <p:cNvSpPr txBox="1"/>
          <p:nvPr>
            <p:ph idx="1" type="body"/>
          </p:nvPr>
        </p:nvSpPr>
        <p:spPr>
          <a:xfrm>
            <a:off x="4401425" y="1997200"/>
            <a:ext cx="4187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um controle remoto universal que é capaz de controlar diferentes dispositivos de diversas marcas. Cada botão aciona uma ação a ser executada a partir da solicitação do controle remoto. O controle em si não precisa saber como que se liga um ar-condicionado, ele apenas precisa saber que método chamar.</a:t>
            </a:r>
            <a:endParaRPr/>
          </a:p>
        </p:txBody>
      </p:sp>
      <p:sp>
        <p:nvSpPr>
          <p:cNvPr id="514" name="Google Shape;514;g3d390257bff_0_2021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15" name="Google Shape;515;g3d390257bff_0_2021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d390257bff_0_2021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d390257bff_0_2021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g3d390257bff_0_2021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390257bff_0_203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524" name="Google Shape;524;g3d390257bff_0_20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1012200"/>
            <a:ext cx="8839202" cy="3579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390257bff_0_2039"/>
          <p:cNvSpPr txBox="1"/>
          <p:nvPr>
            <p:ph idx="1" type="body"/>
          </p:nvPr>
        </p:nvSpPr>
        <p:spPr>
          <a:xfrm>
            <a:off x="4401425" y="1997200"/>
            <a:ext cx="4187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sistemas de processamento em segundo plano, as solicitações são transformadas em comandos e colocadas em uma fila. Um ou mais workers retiram esses objetos da fila e executam o método “execute” conforme a disponibilidade de recursos, permitindo que o sistema siga funcionando enquanto as tarefas pesadas são processadas em segundo plano.</a:t>
            </a:r>
            <a:endParaRPr/>
          </a:p>
        </p:txBody>
      </p:sp>
      <p:sp>
        <p:nvSpPr>
          <p:cNvPr id="530" name="Google Shape;530;g3d390257bff_0_2039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31" name="Google Shape;531;g3d390257bff_0_2039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d390257bff_0_203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d390257bff_0_203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4" name="Google Shape;534;g3d390257bff_0_2039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390257bff_0_204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390257bff_0_2053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Parametrizar objetos por uma ação a ser executada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Especificar, enfileirar e executar solicitações em tempos diferentes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Dar suporte a desfazer operações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Dar suporte a registro de mudanças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Estruturar um sistema em torno de operações de alto nível</a:t>
            </a:r>
            <a:endParaRPr/>
          </a:p>
        </p:txBody>
      </p:sp>
      <p:sp>
        <p:nvSpPr>
          <p:cNvPr id="545" name="Google Shape;545;g3d390257bff_0_2053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390257bff_0_2058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Desacoplar o objeto que invoca a operação do que sabe como executá-la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Commands são objetos de primeira classe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Poder montar comandos para formar um comando composto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Facilidade de acrescentar novos comandos</a:t>
            </a:r>
            <a:endParaRPr/>
          </a:p>
        </p:txBody>
      </p:sp>
      <p:sp>
        <p:nvSpPr>
          <p:cNvPr id="551" name="Google Shape;551;g3d390257bff_0_205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d390257bff_0_1975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INTERPRETER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d390257bff_0_206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Dada uma linguagem, definir uma representação para a sua gramática juntamente com um interpretador que usa a representação para interpretar sentenças dessa linguagem.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p.231</a:t>
            </a:r>
            <a:endParaRPr/>
          </a:p>
        </p:txBody>
      </p:sp>
      <p:sp>
        <p:nvSpPr>
          <p:cNvPr id="562" name="Google Shape;562;g3d390257bff_0_206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563" name="Google Shape;563;g3d390257bff_0_206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d390257bff_0_206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d390257bff_0_206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6" name="Google Shape;566;g3d390257bff_0_2067"/>
          <p:cNvPicPr preferRelativeResize="0"/>
          <p:nvPr/>
        </p:nvPicPr>
        <p:blipFill rotWithShape="1">
          <a:blip r:embed="rId3">
            <a:alphaModFix/>
          </a:blip>
          <a:srcRect b="0" l="65287" r="0" t="0"/>
          <a:stretch/>
        </p:blipFill>
        <p:spPr>
          <a:xfrm>
            <a:off x="926312" y="2889787"/>
            <a:ext cx="1371775" cy="12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g3d390257bff_0_2067"/>
          <p:cNvPicPr preferRelativeResize="0"/>
          <p:nvPr/>
        </p:nvPicPr>
        <p:blipFill rotWithShape="1">
          <a:blip r:embed="rId3">
            <a:alphaModFix/>
          </a:blip>
          <a:srcRect b="0" l="30276" r="34820" t="0"/>
          <a:stretch/>
        </p:blipFill>
        <p:spPr>
          <a:xfrm>
            <a:off x="1727825" y="1587375"/>
            <a:ext cx="1371600" cy="1197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g3d390257bff_0_2067"/>
          <p:cNvPicPr preferRelativeResize="0"/>
          <p:nvPr/>
        </p:nvPicPr>
        <p:blipFill rotWithShape="1">
          <a:blip r:embed="rId3">
            <a:alphaModFix/>
          </a:blip>
          <a:srcRect b="0" l="0" r="69677" t="0"/>
          <a:stretch/>
        </p:blipFill>
        <p:spPr>
          <a:xfrm>
            <a:off x="176775" y="1587375"/>
            <a:ext cx="1371600" cy="1197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390257bff_0_2076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A interpretação de expressões matemáticas envolve a identificação dos números envolvidos, das operações realizadas e executar de fato essas operações, combinando seus resultados para incorporar nas próximas operações.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Nesse ponto, cada operação se comporta como um nó que conecta dois números a serem calculados.</a:t>
            </a:r>
            <a:endParaRPr/>
          </a:p>
        </p:txBody>
      </p:sp>
      <p:sp>
        <p:nvSpPr>
          <p:cNvPr id="574" name="Google Shape;574;g3d390257bff_0_2076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575" name="Google Shape;575;g3d390257bff_0_2076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3d390257bff_0_2076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d390257bff_0_2076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8" name="Google Shape;578;g3d390257bff_0_2076"/>
          <p:cNvPicPr preferRelativeResize="0"/>
          <p:nvPr/>
        </p:nvPicPr>
        <p:blipFill rotWithShape="1">
          <a:blip r:embed="rId3">
            <a:alphaModFix/>
          </a:blip>
          <a:srcRect b="0" l="65287" r="0" t="0"/>
          <a:stretch/>
        </p:blipFill>
        <p:spPr>
          <a:xfrm>
            <a:off x="926312" y="2889787"/>
            <a:ext cx="1371775" cy="12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g3d390257bff_0_2076"/>
          <p:cNvPicPr preferRelativeResize="0"/>
          <p:nvPr/>
        </p:nvPicPr>
        <p:blipFill rotWithShape="1">
          <a:blip r:embed="rId3">
            <a:alphaModFix/>
          </a:blip>
          <a:srcRect b="0" l="30276" r="34820" t="0"/>
          <a:stretch/>
        </p:blipFill>
        <p:spPr>
          <a:xfrm>
            <a:off x="1727825" y="1587375"/>
            <a:ext cx="1371600" cy="1197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g3d390257bff_0_2076"/>
          <p:cNvPicPr preferRelativeResize="0"/>
          <p:nvPr/>
        </p:nvPicPr>
        <p:blipFill rotWithShape="1">
          <a:blip r:embed="rId3">
            <a:alphaModFix/>
          </a:blip>
          <a:srcRect b="0" l="0" r="69677" t="0"/>
          <a:stretch/>
        </p:blipFill>
        <p:spPr>
          <a:xfrm>
            <a:off x="176775" y="1587375"/>
            <a:ext cx="1371600" cy="1197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3d5ad8e73_0_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586" name="Google Shape;586;g3d3d5ad8e7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050" y="1012209"/>
            <a:ext cx="6588000" cy="3926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d3d5ad8e73_0_6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AbstractExpression</a:t>
            </a:r>
            <a:r>
              <a:rPr lang="pt-BR"/>
              <a:t>: interface que define uma operação comum a todos os nós da árvore sintática.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TerminalExpression</a:t>
            </a:r>
            <a:r>
              <a:rPr lang="pt-BR"/>
              <a:t>: implementa a operação comum associada a símbolos terminais da gramática.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NonTerminalExpression</a:t>
            </a:r>
            <a:r>
              <a:rPr lang="pt-BR"/>
              <a:t>: implementa a operação a nível de nó de conexão para símbolos terminais da gramática, chamando de forma recursiva.</a:t>
            </a:r>
            <a:endParaRPr/>
          </a:p>
        </p:txBody>
      </p:sp>
      <p:sp>
        <p:nvSpPr>
          <p:cNvPr id="592" name="Google Shape;592;g3d3d5ad8e73_0_6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3d5ad8e73_0_11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Context</a:t>
            </a:r>
            <a:r>
              <a:rPr lang="pt-BR"/>
              <a:t>: objeto que armazena o contexto global de operações para o interpretador.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</a:t>
            </a:r>
            <a:r>
              <a:rPr lang="pt-BR"/>
              <a:t>constrói</a:t>
            </a:r>
            <a:r>
              <a:rPr lang="pt-BR"/>
              <a:t> a árvore sintática, definindo o contexto de operações adicionando elementos terminais e não terminais e invocando a operação de interpretação.</a:t>
            </a:r>
            <a:endParaRPr/>
          </a:p>
        </p:txBody>
      </p:sp>
      <p:sp>
        <p:nvSpPr>
          <p:cNvPr id="598" name="Google Shape;598;g3d3d5ad8e73_0_1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d3d5ad8e73_0_50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cliente define a sentença como uma árvore, adicionando as instâncias de expressões terminais e não terminais. As instâncias são armazenadas no contexto e a execução da interpretação executa cada nó com base no contexto.</a:t>
            </a:r>
            <a:endParaRPr/>
          </a:p>
        </p:txBody>
      </p:sp>
      <p:sp>
        <p:nvSpPr>
          <p:cNvPr id="604" name="Google Shape;604;g3d3d5ad8e73_0_5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d3d5ad8e73_0_21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Muitas empresas usam sistemas onde usuários “leigos” criam regras complexas sem programar: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300"/>
              <a:t>“Se (idade &gt; 18) E (estado == ‘AM’) OU (assinante == true)”</a:t>
            </a:r>
            <a:endParaRPr i="1" sz="13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Enxergamos as condições de comparação como expressões do sistema, e os conectores lógicos são interpretadores não terminais.</a:t>
            </a:r>
            <a:endParaRPr/>
          </a:p>
        </p:txBody>
      </p:sp>
      <p:sp>
        <p:nvSpPr>
          <p:cNvPr id="610" name="Google Shape;610;g3d3d5ad8e73_0_21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611" name="Google Shape;611;g3d3d5ad8e73_0_21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d3d5ad8e73_0_21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d3d5ad8e73_0_21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" name="Google Shape;614;g3d3d5ad8e73_0_21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d3d5ad8e73_0_3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620" name="Google Shape;620;g3d3d5ad8e73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031" y="1012200"/>
            <a:ext cx="7856038" cy="382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d3d5ad8e73_0_36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sistema de banco de dados precisa ser capaz de interpretar uma série de comandos SQL para executar as operações e responder a comandos complexos que são submetidos ao sistema.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Implemente uma versão simples de interpretador de comandos SQL, onde cada palavra chave seja interpretada como uma expressão.</a:t>
            </a:r>
            <a:endParaRPr/>
          </a:p>
        </p:txBody>
      </p:sp>
      <p:sp>
        <p:nvSpPr>
          <p:cNvPr id="626" name="Google Shape;626;g3d3d5ad8e73_0_36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627" name="Google Shape;627;g3d3d5ad8e73_0_36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3d3d5ad8e73_0_36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d3d5ad8e73_0_36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0" name="Google Shape;630;g3d3d5ad8e73_0_36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3d5ad8e73_0_4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d3d5ad8e73_0_55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O padrão acaba sendo útil quando você tem uma linguagem para ser interpretada e as sentenças podem representar nós formando uma árvore sintática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Quando eficiência não é um ponto crítico, o padrão tem uma boa aceitação</a:t>
            </a:r>
            <a:endParaRPr/>
          </a:p>
        </p:txBody>
      </p:sp>
      <p:sp>
        <p:nvSpPr>
          <p:cNvPr id="641" name="Google Shape;641;g3d3d5ad8e73_0_5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d3d5ad8e73_0_60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Facilidade de mudar e estender a gramática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Facilidade de implementar a gramática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Gramáticas complexas são difíceis de manter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Possibilidade de acrescentar novas formas de interpretar expressões</a:t>
            </a:r>
            <a:endParaRPr/>
          </a:p>
        </p:txBody>
      </p:sp>
      <p:sp>
        <p:nvSpPr>
          <p:cNvPr id="647" name="Google Shape;647;g3d3d5ad8e73_0_6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0a70d3dc02_0_40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Padrões de projeto comportamentais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Chain of Responsibility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Command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Interpreter</a:t>
            </a:r>
            <a:endParaRPr/>
          </a:p>
        </p:txBody>
      </p:sp>
      <p:sp>
        <p:nvSpPr>
          <p:cNvPr id="653" name="Google Shape;653;g20a70d3dc02_0_40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RECAPITULANDO</a:t>
            </a:r>
            <a:endParaRPr/>
          </a:p>
        </p:txBody>
      </p:sp>
      <p:sp>
        <p:nvSpPr>
          <p:cNvPr id="654" name="Google Shape;654;g20a70d3dc02_0_40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20a70d3dc02_0_40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20a70d3dc02_0_40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7" name="Google Shape;657;g20a70d3dc02_0_407"/>
          <p:cNvPicPr preferRelativeResize="0"/>
          <p:nvPr/>
        </p:nvPicPr>
        <p:blipFill rotWithShape="1">
          <a:blip r:embed="rId3">
            <a:alphaModFix/>
          </a:blip>
          <a:srcRect b="7842" l="0" r="5356" t="0"/>
          <a:stretch/>
        </p:blipFill>
        <p:spPr>
          <a:xfrm>
            <a:off x="0" y="1566675"/>
            <a:ext cx="3224400" cy="25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7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663" name="Google Shape;663;p27"/>
          <p:cNvSpPr txBox="1"/>
          <p:nvPr/>
        </p:nvSpPr>
        <p:spPr>
          <a:xfrm>
            <a:off x="288350" y="4506400"/>
            <a:ext cx="620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</a:t>
            </a: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 QUEM DISSE QUE ISSO É PROBLEMA MEU?</a:t>
            </a: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”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Peter Parker, a.k.a Homem Aranha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64" name="Google Shape;664;p27"/>
          <p:cNvSpPr/>
          <p:nvPr/>
        </p:nvSpPr>
        <p:spPr>
          <a:xfrm>
            <a:off x="135950" y="1566450"/>
            <a:ext cx="2097600" cy="27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5" name="Google Shape;665;p27"/>
          <p:cNvPicPr preferRelativeResize="0"/>
          <p:nvPr/>
        </p:nvPicPr>
        <p:blipFill rotWithShape="1">
          <a:blip r:embed="rId3">
            <a:alphaModFix/>
          </a:blip>
          <a:srcRect b="0" l="9580" r="41963" t="0"/>
          <a:stretch/>
        </p:blipFill>
        <p:spPr>
          <a:xfrm>
            <a:off x="135950" y="1622538"/>
            <a:ext cx="2097600" cy="263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