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6858000" cy="9144000"/>
  <p:embeddedFontLst>
    <p:embeddedFont>
      <p:font typeface="Anaheim"/>
      <p:regular r:id="rId51"/>
      <p:bold r:id="rId52"/>
    </p:embeddedFont>
    <p:embeddedFont>
      <p:font typeface="Barlow Condensed ExtraBold"/>
      <p:bold r:id="rId53"/>
      <p:boldItalic r:id="rId54"/>
    </p:embeddedFont>
    <p:embeddedFont>
      <p:font typeface="Overpass Mono"/>
      <p:regular r:id="rId55"/>
      <p:bold r:id="rId56"/>
    </p:embeddedFont>
    <p:embeddedFont>
      <p:font typeface="Barlow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iR8jRO5QmCBb9DzyTbl0QCz1hX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1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Barlow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naheim-regular.fntdata"/><Relationship Id="rId50" Type="http://schemas.openxmlformats.org/officeDocument/2006/relationships/slide" Target="slides/slide46.xml"/><Relationship Id="rId53" Type="http://schemas.openxmlformats.org/officeDocument/2006/relationships/font" Target="fonts/BarlowCondensedExtraBold-bold.fntdata"/><Relationship Id="rId52" Type="http://schemas.openxmlformats.org/officeDocument/2006/relationships/font" Target="fonts/Anaheim-bold.fntdata"/><Relationship Id="rId11" Type="http://schemas.openxmlformats.org/officeDocument/2006/relationships/slide" Target="slides/slide7.xml"/><Relationship Id="rId55" Type="http://schemas.openxmlformats.org/officeDocument/2006/relationships/font" Target="fonts/OverpassMono-regular.fntdata"/><Relationship Id="rId10" Type="http://schemas.openxmlformats.org/officeDocument/2006/relationships/slide" Target="slides/slide6.xml"/><Relationship Id="rId54" Type="http://schemas.openxmlformats.org/officeDocument/2006/relationships/font" Target="fonts/BarlowCondensedExtraBold-boldItalic.fntdata"/><Relationship Id="rId13" Type="http://schemas.openxmlformats.org/officeDocument/2006/relationships/slide" Target="slides/slide9.xml"/><Relationship Id="rId57" Type="http://schemas.openxmlformats.org/officeDocument/2006/relationships/font" Target="fonts/Barlow-regular.fntdata"/><Relationship Id="rId12" Type="http://schemas.openxmlformats.org/officeDocument/2006/relationships/slide" Target="slides/slide8.xml"/><Relationship Id="rId56" Type="http://schemas.openxmlformats.org/officeDocument/2006/relationships/font" Target="fonts/OverpassMono-bold.fntdata"/><Relationship Id="rId15" Type="http://schemas.openxmlformats.org/officeDocument/2006/relationships/slide" Target="slides/slide11.xml"/><Relationship Id="rId59" Type="http://schemas.openxmlformats.org/officeDocument/2006/relationships/font" Target="fonts/Barlow-italic.fntdata"/><Relationship Id="rId14" Type="http://schemas.openxmlformats.org/officeDocument/2006/relationships/slide" Target="slides/slide10.xml"/><Relationship Id="rId58" Type="http://schemas.openxmlformats.org/officeDocument/2006/relationships/font" Target="fonts/Barlow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dc2d77a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ddc2d77a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dc2d77ab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ddc2d77ab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dc2d77a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ddc2d77a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dc2d77ab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ddc2d77ab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dc2d77ab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ddc2d77a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dc2d77ab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ddc2d77ab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dc2d77ab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ddc2d77ab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dc2d77ab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ddc2d77ab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dc2d77ab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ddc2d77ab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dc2d77ab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ddc2d77ab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dc2d77abf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ddc2d77abf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dc2d77abf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ddc2d77abf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dc2d77abf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ddc2d77abf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dc2d77ab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ddc2d77ab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dc2d77ab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ddc2d77ab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dc2d77ab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ddc2d77ab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dc2d77ab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ddc2d77ab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dc2d77ab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ddc2d77ab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dc2d77ab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ddc2d77ab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dc2d77ab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ddc2d77ab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dc2d77ab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ddc2d77ab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dc2d77ab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ddc2d77ab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dc2d77ab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ddc2d77ab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dc2d77ab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ddc2d77ab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dc2d77ab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ddc2d77ab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dc2d77ab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ddc2d77ab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dc2d77ab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ddc2d77ab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ddc2d77ab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ddc2d77ab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dc2d77ab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ddc2d77ab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ddc2d77ab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g3ddc2d77ab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dc2d77abf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ddc2d77ab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dc2d77ab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ddc2d77ab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dc2d77ab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ddc2d77ab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dc2d77abf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ddc2d77abf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ddc2d77abf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ddc2d77abf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dc2d77abf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ddc2d77abf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ddc2d77ab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ddc2d77ab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ddc2d77abf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g3ddc2d77abf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dc2d77ab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ddc2d77ab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dc2d77abf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ddc2d77ab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dc2d77ab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ddc2d77ab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ddc2d77ab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3ddc2d77ab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dc2d77abf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ddc2d77abf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24" name="Google Shape;324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>
                <a:solidFill>
                  <a:srgbClr val="FFFFFF"/>
                </a:solidFill>
              </a:rPr>
              <a:t>Aula 10: Padrões GRASP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CONTEXTO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dc2d77abf_0_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Modelar sistemas orientados a objetos trazem diversos desafios e dúvidas a respeito do nosso trabalho, simplesmente por não ser algo tão trivial do dia a dia.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Onde colocar responsabilidades?</a:t>
            </a:r>
            <a:endParaRPr b="1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Quem deve fazer o quê?</a:t>
            </a:r>
            <a:endParaRPr b="1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Como evitar código frágil?</a:t>
            </a:r>
            <a:endParaRPr b="1"/>
          </a:p>
        </p:txBody>
      </p:sp>
      <p:sp>
        <p:nvSpPr>
          <p:cNvPr id="335" name="Google Shape;335;g3ddc2d77abf_0_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DESAFIOS</a:t>
            </a:r>
            <a:endParaRPr/>
          </a:p>
        </p:txBody>
      </p:sp>
      <p:sp>
        <p:nvSpPr>
          <p:cNvPr id="336" name="Google Shape;336;g3ddc2d77abf_0_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ddc2d77abf_0_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ddc2d77abf_0_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g3ddc2d77abf_0_0"/>
          <p:cNvPicPr preferRelativeResize="0"/>
          <p:nvPr/>
        </p:nvPicPr>
        <p:blipFill rotWithShape="1">
          <a:blip r:embed="rId3">
            <a:alphaModFix/>
          </a:blip>
          <a:srcRect b="1727" l="22371" r="22514" t="2303"/>
          <a:stretch/>
        </p:blipFill>
        <p:spPr>
          <a:xfrm>
            <a:off x="314313" y="1540925"/>
            <a:ext cx="2595765" cy="25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dc2d77abf_0_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FOCO DA MODELAGEM</a:t>
            </a:r>
            <a:endParaRPr/>
          </a:p>
        </p:txBody>
      </p:sp>
      <p:sp>
        <p:nvSpPr>
          <p:cNvPr id="345" name="Google Shape;345;g3ddc2d77abf_0_9"/>
          <p:cNvSpPr/>
          <p:nvPr/>
        </p:nvSpPr>
        <p:spPr>
          <a:xfrm>
            <a:off x="2045831" y="1430400"/>
            <a:ext cx="2290200" cy="1252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Melhor manutenção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46" name="Google Shape;346;g3ddc2d77abf_0_9"/>
          <p:cNvSpPr/>
          <p:nvPr/>
        </p:nvSpPr>
        <p:spPr>
          <a:xfrm>
            <a:off x="2045819" y="2894625"/>
            <a:ext cx="2290200" cy="1252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Baixo acoplamento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47" name="Google Shape;347;g3ddc2d77abf_0_9"/>
          <p:cNvSpPr/>
          <p:nvPr/>
        </p:nvSpPr>
        <p:spPr>
          <a:xfrm>
            <a:off x="4807981" y="2894625"/>
            <a:ext cx="2290200" cy="1252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Código mais evolutivo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48" name="Google Shape;348;g3ddc2d77abf_0_9"/>
          <p:cNvSpPr/>
          <p:nvPr/>
        </p:nvSpPr>
        <p:spPr>
          <a:xfrm>
            <a:off x="4807981" y="1430400"/>
            <a:ext cx="2290200" cy="1252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Anaheim"/>
                <a:ea typeface="Anaheim"/>
                <a:cs typeface="Anaheim"/>
                <a:sym typeface="Anaheim"/>
              </a:rPr>
              <a:t>Alta coesão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dc2d77abf_0_2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 GRASP (General Responsibility Assignment Software Patterns) são diretrizes fundamentais para atribuir responsabilidades a classes e objetos na programação orientada a objetos.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Esses padrões focam em criar sistemas orientados a objetos com </a:t>
            </a:r>
            <a:r>
              <a:rPr b="1" lang="pt-BR"/>
              <a:t>alta coesão</a:t>
            </a:r>
            <a:r>
              <a:rPr lang="pt-BR"/>
              <a:t>, </a:t>
            </a:r>
            <a:r>
              <a:rPr b="1" lang="pt-BR"/>
              <a:t>baixo acoplamento</a:t>
            </a:r>
            <a:r>
              <a:rPr lang="pt-BR"/>
              <a:t> e código fácil de </a:t>
            </a:r>
            <a:r>
              <a:rPr b="1" lang="pt-BR"/>
              <a:t>manter</a:t>
            </a:r>
            <a:r>
              <a:rPr lang="pt-BR"/>
              <a:t>, </a:t>
            </a:r>
            <a:r>
              <a:rPr b="1" lang="pt-BR"/>
              <a:t>reutilizar</a:t>
            </a:r>
            <a:r>
              <a:rPr lang="pt-BR"/>
              <a:t> e </a:t>
            </a:r>
            <a:r>
              <a:rPr b="1" lang="pt-BR"/>
              <a:t>estender</a:t>
            </a:r>
            <a:r>
              <a:rPr lang="pt-BR"/>
              <a:t>.</a:t>
            </a:r>
            <a:endParaRPr/>
          </a:p>
        </p:txBody>
      </p:sp>
      <p:sp>
        <p:nvSpPr>
          <p:cNvPr id="354" name="Google Shape;354;g3ddc2d77abf_0_2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PADRÕES GRASP</a:t>
            </a:r>
            <a:endParaRPr/>
          </a:p>
        </p:txBody>
      </p:sp>
      <p:sp>
        <p:nvSpPr>
          <p:cNvPr id="355" name="Google Shape;355;g3ddc2d77abf_0_2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ddc2d77abf_0_2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ddc2d77abf_0_2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ddc2d77abf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6963"/>
            <a:ext cx="3224401" cy="2330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dc2d77abf_0_2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 padrão foi proposto por Craig Larmar em 1997, com a finalidade de ser uma ferramenta pedagógica para ensinar o raciocínio por trás da orientação a objetos. Diferente dos padrões de projetos do GoF, que focam em soluções de código específicas, o GRASP foca em design de estruturas dos componentes orientados a objeto.</a:t>
            </a:r>
            <a:endParaRPr/>
          </a:p>
        </p:txBody>
      </p:sp>
      <p:sp>
        <p:nvSpPr>
          <p:cNvPr id="364" name="Google Shape;364;g3ddc2d77abf_0_2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CRIAÇÃO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dc2d77abf_0_46"/>
          <p:cNvSpPr txBox="1"/>
          <p:nvPr>
            <p:ph idx="1" type="body"/>
          </p:nvPr>
        </p:nvSpPr>
        <p:spPr>
          <a:xfrm>
            <a:off x="4579525" y="2540600"/>
            <a:ext cx="3932700" cy="23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Na época, a UML se tornava o padrão de modelagem, porém Larmar percebeu que saber desenhar diagramas não era o mesmo que projetar bons sistemas. Com isso, ele identificou que a maior dificuldade dos desenvolvedores era na atribuição de responsabilidades. Isso posto, ele publicou o livro </a:t>
            </a:r>
            <a:r>
              <a:rPr i="1" lang="pt-BR"/>
              <a:t>Applying UML and Patterns</a:t>
            </a:r>
            <a:r>
              <a:rPr lang="pt-BR"/>
              <a:t> (Utilizando UML e Padrões).</a:t>
            </a:r>
            <a:endParaRPr/>
          </a:p>
        </p:txBody>
      </p:sp>
      <p:sp>
        <p:nvSpPr>
          <p:cNvPr id="370" name="Google Shape;370;g3ddc2d77abf_0_4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HISTÓRICO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dc2d77abf_0_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FILOSOFIA</a:t>
            </a:r>
            <a:endParaRPr/>
          </a:p>
        </p:txBody>
      </p:sp>
      <p:pic>
        <p:nvPicPr>
          <p:cNvPr id="376" name="Google Shape;376;g3ddc2d77abf_0_34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g3ddc2d77abf_0_34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378" name="Google Shape;378;g3ddc2d77abf_0_34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ddc2d77abf_0_34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ddc2d77abf_0_34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ddc2d77abf_0_34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ddc2d77abf_0_34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g3ddc2d77abf_0_34"/>
          <p:cNvSpPr txBox="1"/>
          <p:nvPr/>
        </p:nvSpPr>
        <p:spPr>
          <a:xfrm>
            <a:off x="1956600" y="1074600"/>
            <a:ext cx="70260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Fundamentação em Responsabilidades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Larmar se baseou no conceito de </a:t>
            </a:r>
            <a:r>
              <a:rPr i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Responsibility-Driven Design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(RDD), criado por Rebecca Wirfs-Brock, que foca na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colaboração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entre objetos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Abstração do GoF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Enquanto os 23 padrões de projeto GoF são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receitas prontas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, Larmar queria ensinar os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ingredientes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. Os 9 princípios GRASP explicam o porquê dos padrões GoF funcionarem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Detalhe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O GRASP não tecnicamente um conjunto de “novas” invenções, mas sim a formalização de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boas práticas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que já eram usadas por especialistas de Smalltalk e C++ nos anos 80, organizadas de forma lógica para novos engenheiros de software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dc2d77abf_0_9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Os princípios GRASP não são uma lista solta de padrões, mas sim uma organização lógica em duas categorias principais baseadas no nível de complexidade e maturidade do design. A divisão consiste em padrões </a:t>
            </a:r>
            <a:r>
              <a:rPr b="1" lang="pt-BR"/>
              <a:t>fundamentais</a:t>
            </a:r>
            <a:r>
              <a:rPr lang="pt-BR"/>
              <a:t> e </a:t>
            </a:r>
            <a:r>
              <a:rPr b="1" lang="pt-BR"/>
              <a:t>avançados</a:t>
            </a:r>
            <a:r>
              <a:rPr lang="pt-BR"/>
              <a:t>, com o intuito de lidar com problemas de design partindo de situações simples até às mais complexas.</a:t>
            </a:r>
            <a:endParaRPr/>
          </a:p>
        </p:txBody>
      </p:sp>
      <p:sp>
        <p:nvSpPr>
          <p:cNvPr id="389" name="Google Shape;389;g3ddc2d77abf_0_9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PRINCÍPIOS</a:t>
            </a:r>
            <a:endParaRPr/>
          </a:p>
        </p:txBody>
      </p:sp>
      <p:sp>
        <p:nvSpPr>
          <p:cNvPr id="390" name="Google Shape;390;g3ddc2d77abf_0_9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ddc2d77abf_0_9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ddc2d77abf_0_9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g3ddc2d77abf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6963"/>
            <a:ext cx="3224401" cy="2330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dc2d77abf_0_6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PADRÕES FUNDAMENTAIS</a:t>
            </a:r>
            <a:endParaRPr/>
          </a:p>
        </p:txBody>
      </p:sp>
      <p:pic>
        <p:nvPicPr>
          <p:cNvPr id="399" name="Google Shape;399;g3ddc2d77abf_0_66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g3ddc2d77abf_0_66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01" name="Google Shape;401;g3ddc2d77abf_0_66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ddc2d77abf_0_66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ddc2d77abf_0_66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ddc2d77abf_0_66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ddc2d77abf_0_66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g3ddc2d77abf_0_66"/>
          <p:cNvSpPr txBox="1"/>
          <p:nvPr/>
        </p:nvSpPr>
        <p:spPr>
          <a:xfrm>
            <a:off x="1956600" y="1200600"/>
            <a:ext cx="70260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Estes são os pilares para quem está começando a modelar o sistema. Eles resolvem o problema imediato de “onde colocar este método?”: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Especialista na Informação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O ponto de partida (onde está o dado?)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Criador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Define a origem dos objetos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Baixo Acoplamento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meta de sustentabilidade da classe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Alta Coesão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meta de clareza da classe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Controlador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 porta de entrada para a lógica do sistema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dc2d77abf_0_7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PADRÕES AVANÇADOS</a:t>
            </a:r>
            <a:endParaRPr/>
          </a:p>
        </p:txBody>
      </p:sp>
      <p:pic>
        <p:nvPicPr>
          <p:cNvPr id="412" name="Google Shape;412;g3ddc2d77abf_0_78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g3ddc2d77abf_0_78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14" name="Google Shape;414;g3ddc2d77abf_0_78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ddc2d77abf_0_78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ddc2d77abf_0_78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ddc2d77abf_0_78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ddc2d77abf_0_78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g3ddc2d77abf_0_78"/>
          <p:cNvSpPr txBox="1"/>
          <p:nvPr/>
        </p:nvSpPr>
        <p:spPr>
          <a:xfrm>
            <a:off x="1956600" y="976500"/>
            <a:ext cx="7026000" cy="3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Estes padrões entram em jogo quando os padrões fundamentais começam a gerar classes “inchadas” ou sistemas rígidos demais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Polimorfismo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Resolve variações de comportamentos sem usar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if/else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ou </a:t>
            </a: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switch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Fabricação Pura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Quando a lógica não pertence a nenhum objeto real do negócio (salvar no banco de dados)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Indireção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Cria uma ponte para evitar que duas classes se conheçam diretamente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Variações Protegidas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Cria um “ponto de estabilidade” para que mudanças em uma parte não quebrem o resto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dc2d77abf_0_10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utilizar como exemplo um sistema de vendas simples, na qual temos: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Pedido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Itens do pedido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Produtos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Cálculos do pedido</a:t>
            </a:r>
            <a:endParaRPr/>
          </a:p>
        </p:txBody>
      </p:sp>
      <p:sp>
        <p:nvSpPr>
          <p:cNvPr id="425" name="Google Shape;425;g3ddc2d77abf_0_100"/>
          <p:cNvSpPr txBox="1"/>
          <p:nvPr>
            <p:ph type="title"/>
          </p:nvPr>
        </p:nvSpPr>
        <p:spPr>
          <a:xfrm>
            <a:off x="4142975" y="1323800"/>
            <a:ext cx="4476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CENÁRIO DE EXEMPLO</a:t>
            </a:r>
            <a:endParaRPr/>
          </a:p>
        </p:txBody>
      </p:sp>
      <p:sp>
        <p:nvSpPr>
          <p:cNvPr id="426" name="Google Shape;426;g3ddc2d77abf_0_10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ddc2d77abf_0_10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ddc2d77abf_0_10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g3ddc2d77abf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25" y="1635525"/>
            <a:ext cx="2452350" cy="245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dc2d77abf_0_41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PRODUTO</a:t>
            </a:r>
            <a:endParaRPr/>
          </a:p>
        </p:txBody>
      </p:sp>
      <p:sp>
        <p:nvSpPr>
          <p:cNvPr id="435" name="Google Shape;435;g3ddc2d77abf_0_413"/>
          <p:cNvSpPr txBox="1"/>
          <p:nvPr/>
        </p:nvSpPr>
        <p:spPr>
          <a:xfrm>
            <a:off x="2576100" y="1012200"/>
            <a:ext cx="3991800" cy="4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nome;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preco;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preco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.nome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.preco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preco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getNome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.nome;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getPreco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.preco;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dc2d77abf_0_42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ITEMPEDIDO</a:t>
            </a:r>
            <a:endParaRPr/>
          </a:p>
        </p:txBody>
      </p:sp>
      <p:sp>
        <p:nvSpPr>
          <p:cNvPr id="441" name="Google Shape;441;g3ddc2d77abf_0_428"/>
          <p:cNvSpPr txBox="1"/>
          <p:nvPr/>
        </p:nvSpPr>
        <p:spPr>
          <a:xfrm>
            <a:off x="2232150" y="1012200"/>
            <a:ext cx="4679700" cy="4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produto;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quantidade;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quantidade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.produto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.quantidade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quantidade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.produto;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getQuantidade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.quantidade;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dc2d77abf_0_4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PEDIDO</a:t>
            </a:r>
            <a:endParaRPr/>
          </a:p>
        </p:txBody>
      </p:sp>
      <p:sp>
        <p:nvSpPr>
          <p:cNvPr id="447" name="Google Shape;447;g3ddc2d77abf_0_434"/>
          <p:cNvSpPr txBox="1"/>
          <p:nvPr/>
        </p:nvSpPr>
        <p:spPr>
          <a:xfrm>
            <a:off x="2623500" y="1012200"/>
            <a:ext cx="3897000" cy="4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itens;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.itens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&lt;&gt;();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getItens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.itens;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adicionar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.itens.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dc2d77abf_0_109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PADRÕES FUNDAMENTAIS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dc2d77abf_0_113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a responsabilidade deve ser dada a quem possui os dados. Na prática, isso significa que, quando você precisa calcular o total de uma venda, a classe </a:t>
            </a:r>
            <a:r>
              <a:rPr b="1" lang="pt-BR"/>
              <a:t>Pedido</a:t>
            </a:r>
            <a:r>
              <a:rPr lang="pt-BR"/>
              <a:t> (que conhece os itens) deve fazer isso, e não uma classe externa. Dessa forma, mantemos a lógica próxima aos dados, facilitando a manutenção.</a:t>
            </a:r>
            <a:endParaRPr/>
          </a:p>
        </p:txBody>
      </p:sp>
      <p:sp>
        <p:nvSpPr>
          <p:cNvPr id="458" name="Google Shape;458;g3ddc2d77abf_0_113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/>
              <a:t>ESPECIALISTA NA INFORMAÇÃO</a:t>
            </a:r>
            <a:endParaRPr sz="2300"/>
          </a:p>
        </p:txBody>
      </p:sp>
      <p:sp>
        <p:nvSpPr>
          <p:cNvPr id="459" name="Google Shape;459;g3ddc2d77abf_0_113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ddc2d77abf_0_11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ddc2d77abf_0_11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g3ddc2d77abf_0_113"/>
          <p:cNvPicPr preferRelativeResize="0"/>
          <p:nvPr/>
        </p:nvPicPr>
        <p:blipFill rotWithShape="1">
          <a:blip r:embed="rId3">
            <a:alphaModFix/>
          </a:blip>
          <a:srcRect b="0" l="0" r="0" t="14617"/>
          <a:stretch/>
        </p:blipFill>
        <p:spPr>
          <a:xfrm>
            <a:off x="40988" y="1476138"/>
            <a:ext cx="3142423" cy="26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dc2d77abf_0_12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 RUIM</a:t>
            </a:r>
            <a:endParaRPr/>
          </a:p>
        </p:txBody>
      </p:sp>
      <p:sp>
        <p:nvSpPr>
          <p:cNvPr id="468" name="Google Shape;468;g3ddc2d77abf_0_122"/>
          <p:cNvSpPr txBox="1"/>
          <p:nvPr/>
        </p:nvSpPr>
        <p:spPr>
          <a:xfrm>
            <a:off x="1522200" y="1141375"/>
            <a:ext cx="6099600" cy="23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calcularTotal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item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getItens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total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item.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getPreco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item.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getQuantidade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total;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469" name="Google Shape;469;g3ddc2d77abf_0_122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932382"/>
            <a:ext cx="1060550" cy="1051368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ddc2d77abf_0_122"/>
          <p:cNvSpPr txBox="1"/>
          <p:nvPr/>
        </p:nvSpPr>
        <p:spPr>
          <a:xfrm>
            <a:off x="1522200" y="3890975"/>
            <a:ext cx="42393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Pedido tem os dados, mas não calcula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Violação clara do princípio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dc2d77abf_0_13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CORREÇÃO</a:t>
            </a:r>
            <a:endParaRPr/>
          </a:p>
        </p:txBody>
      </p:sp>
      <p:sp>
        <p:nvSpPr>
          <p:cNvPr id="476" name="Google Shape;476;g3ddc2d77abf_0_132"/>
          <p:cNvSpPr txBox="1"/>
          <p:nvPr/>
        </p:nvSpPr>
        <p:spPr>
          <a:xfrm>
            <a:off x="2157300" y="1012200"/>
            <a:ext cx="48294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calcularSubTotal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.produto.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getPreco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.quantidade;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calcularTotal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item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.itens)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total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item.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calcularSubTotal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total;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77" name="Google Shape;477;g3ddc2d77abf_0_132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00" y="3931200"/>
            <a:ext cx="1062000" cy="10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dc2d77abf_0_142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definimos de forma clara quem deve criar a instância de um objeto. Por exemplo, a classe </a:t>
            </a:r>
            <a:r>
              <a:rPr b="1" lang="pt-BR"/>
              <a:t>Pedido</a:t>
            </a:r>
            <a:r>
              <a:rPr lang="pt-BR"/>
              <a:t> deve criar objetos </a:t>
            </a:r>
            <a:r>
              <a:rPr b="1" lang="pt-BR"/>
              <a:t>ItemPedido</a:t>
            </a:r>
            <a:r>
              <a:rPr lang="pt-BR"/>
              <a:t> se ela os agrega, os contém ou tem os dados para inicializá-los.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Com isso, mantemos uma organização do ciclo de vida dos objetos e evita que qualquer classe saia criando instâncias sem critério.</a:t>
            </a:r>
            <a:endParaRPr/>
          </a:p>
        </p:txBody>
      </p:sp>
      <p:sp>
        <p:nvSpPr>
          <p:cNvPr id="483" name="Google Shape;483;g3ddc2d77abf_0_142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CRIADOR</a:t>
            </a:r>
            <a:endParaRPr/>
          </a:p>
        </p:txBody>
      </p:sp>
      <p:sp>
        <p:nvSpPr>
          <p:cNvPr id="484" name="Google Shape;484;g3ddc2d77abf_0_142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ddc2d77abf_0_14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ddc2d77abf_0_14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ddc2d77abf_0_142"/>
          <p:cNvPicPr preferRelativeResize="0"/>
          <p:nvPr/>
        </p:nvPicPr>
        <p:blipFill rotWithShape="1">
          <a:blip r:embed="rId3">
            <a:alphaModFix/>
          </a:blip>
          <a:srcRect b="0" l="0" r="0" t="14185"/>
          <a:stretch/>
        </p:blipFill>
        <p:spPr>
          <a:xfrm>
            <a:off x="58413" y="1478700"/>
            <a:ext cx="3107564" cy="26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dc2d77abf_0_15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 RUIM</a:t>
            </a:r>
            <a:endParaRPr/>
          </a:p>
        </p:txBody>
      </p:sp>
      <p:sp>
        <p:nvSpPr>
          <p:cNvPr id="493" name="Google Shape;493;g3ddc2d77abf_0_151"/>
          <p:cNvSpPr txBox="1"/>
          <p:nvPr/>
        </p:nvSpPr>
        <p:spPr>
          <a:xfrm>
            <a:off x="1522200" y="1856550"/>
            <a:ext cx="60996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criarItem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quantidade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(produto, quantidade);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94" name="Google Shape;494;g3ddc2d77abf_0_151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932382"/>
            <a:ext cx="1060550" cy="105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dc2d77abf_0_15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CORREÇÃO</a:t>
            </a:r>
            <a:endParaRPr/>
          </a:p>
        </p:txBody>
      </p:sp>
      <p:sp>
        <p:nvSpPr>
          <p:cNvPr id="500" name="Google Shape;500;g3ddc2d77abf_0_158"/>
          <p:cNvSpPr txBox="1"/>
          <p:nvPr/>
        </p:nvSpPr>
        <p:spPr>
          <a:xfrm>
            <a:off x="1893150" y="1173137"/>
            <a:ext cx="5357700" cy="2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itens;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.itens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&lt;&gt;();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adicionarItem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quantidade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item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ItemPedido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(produto, quantidade);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itens.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(item);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01" name="Google Shape;501;g3ddc2d77abf_0_158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00" y="3931200"/>
            <a:ext cx="1062000" cy="10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dc2d77abf_0_16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devemos manter as classes o mais independentes possível. Uma classe não deve conhecer detalhes internos de muitas outras, ou seja, quanto menos setas ligando classes em um diagrama melhor. Isso traz flexibilidade para o uso das classes pois, se você mudar uma classe, não quebra o sistema inteiro.</a:t>
            </a:r>
            <a:endParaRPr/>
          </a:p>
        </p:txBody>
      </p:sp>
      <p:sp>
        <p:nvSpPr>
          <p:cNvPr id="507" name="Google Shape;507;g3ddc2d77abf_0_166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BAIXO ACOPLAMENTO</a:t>
            </a:r>
            <a:endParaRPr/>
          </a:p>
        </p:txBody>
      </p:sp>
      <p:sp>
        <p:nvSpPr>
          <p:cNvPr id="508" name="Google Shape;508;g3ddc2d77abf_0_16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ddc2d77abf_0_16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ddc2d77abf_0_16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g3ddc2d77abf_0_166"/>
          <p:cNvPicPr preferRelativeResize="0"/>
          <p:nvPr/>
        </p:nvPicPr>
        <p:blipFill rotWithShape="1">
          <a:blip r:embed="rId3">
            <a:alphaModFix/>
          </a:blip>
          <a:srcRect b="0" l="7408" r="10193" t="0"/>
          <a:stretch/>
        </p:blipFill>
        <p:spPr>
          <a:xfrm>
            <a:off x="0" y="1543521"/>
            <a:ext cx="3224400" cy="2537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dc2d77abf_0_17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 RUIM</a:t>
            </a:r>
            <a:endParaRPr/>
          </a:p>
        </p:txBody>
      </p:sp>
      <p:sp>
        <p:nvSpPr>
          <p:cNvPr id="517" name="Google Shape;517;g3ddc2d77abf_0_174"/>
          <p:cNvSpPr txBox="1"/>
          <p:nvPr/>
        </p:nvSpPr>
        <p:spPr>
          <a:xfrm>
            <a:off x="2809500" y="1599000"/>
            <a:ext cx="3525000" cy="1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MySQLConnection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MySQLConnection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.conn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18" name="Google Shape;518;g3ddc2d77abf_0_174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932382"/>
            <a:ext cx="1060550" cy="105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dc2d77abf_0_18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CORREÇÃO</a:t>
            </a:r>
            <a:endParaRPr/>
          </a:p>
        </p:txBody>
      </p:sp>
      <p:sp>
        <p:nvSpPr>
          <p:cNvPr id="524" name="Google Shape;524;g3ddc2d77abf_0_180"/>
          <p:cNvSpPr txBox="1"/>
          <p:nvPr/>
        </p:nvSpPr>
        <p:spPr>
          <a:xfrm>
            <a:off x="861550" y="1123375"/>
            <a:ext cx="4755000" cy="3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salvar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repository;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.repository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25" name="Google Shape;525;g3ddc2d77abf_0_180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00" y="3931200"/>
            <a:ext cx="1062000" cy="10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3ddc2d77abf_0_180"/>
          <p:cNvSpPr txBox="1"/>
          <p:nvPr/>
        </p:nvSpPr>
        <p:spPr>
          <a:xfrm>
            <a:off x="2104850" y="3974825"/>
            <a:ext cx="53661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MySQLConnection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conn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MySQLConnection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repository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MySQLPedidosRepository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(conn);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service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(repository);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dc2d77abf_0_19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uma classe deve fazer apenas uma coisa e fazê-la bem. Por exemplo, se uma classe trata de </a:t>
            </a:r>
            <a:r>
              <a:rPr b="1" lang="pt-BR"/>
              <a:t>Email</a:t>
            </a:r>
            <a:r>
              <a:rPr lang="pt-BR"/>
              <a:t>, ela não deve validar </a:t>
            </a:r>
            <a:r>
              <a:rPr b="1" lang="pt-BR"/>
              <a:t>CPF</a:t>
            </a:r>
            <a:r>
              <a:rPr lang="pt-BR"/>
              <a:t>. O código deve sempre ser focado e funcionalmente relacionado.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Isso facilita o entendimento e a reutilização do código.</a:t>
            </a:r>
            <a:endParaRPr/>
          </a:p>
        </p:txBody>
      </p:sp>
      <p:sp>
        <p:nvSpPr>
          <p:cNvPr id="532" name="Google Shape;532;g3ddc2d77abf_0_191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ALTA COESÃO</a:t>
            </a:r>
            <a:endParaRPr/>
          </a:p>
        </p:txBody>
      </p:sp>
      <p:sp>
        <p:nvSpPr>
          <p:cNvPr id="533" name="Google Shape;533;g3ddc2d77abf_0_19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ddc2d77abf_0_19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ddc2d77abf_0_19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g3ddc2d77abf_0_191"/>
          <p:cNvPicPr preferRelativeResize="0"/>
          <p:nvPr/>
        </p:nvPicPr>
        <p:blipFill rotWithShape="1">
          <a:blip r:embed="rId3">
            <a:alphaModFix/>
          </a:blip>
          <a:srcRect b="0" l="9065" r="8071" t="0"/>
          <a:stretch/>
        </p:blipFill>
        <p:spPr>
          <a:xfrm>
            <a:off x="19687" y="1530934"/>
            <a:ext cx="3185021" cy="25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dc2d77abf_0_19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 RUIM</a:t>
            </a:r>
            <a:endParaRPr/>
          </a:p>
        </p:txBody>
      </p:sp>
      <p:sp>
        <p:nvSpPr>
          <p:cNvPr id="542" name="Google Shape;542;g3ddc2d77abf_0_199"/>
          <p:cNvSpPr txBox="1"/>
          <p:nvPr/>
        </p:nvSpPr>
        <p:spPr>
          <a:xfrm>
            <a:off x="2809500" y="1748100"/>
            <a:ext cx="3525000" cy="1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salvarNoBanco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enviarEmail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calcularTotal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43" name="Google Shape;543;g3ddc2d77abf_0_199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932382"/>
            <a:ext cx="1060550" cy="105136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3ddc2d77abf_0_199"/>
          <p:cNvSpPr txBox="1"/>
          <p:nvPr/>
        </p:nvSpPr>
        <p:spPr>
          <a:xfrm>
            <a:off x="6559125" y="2954814"/>
            <a:ext cx="180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Regra de negócio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5" name="Google Shape;545;g3ddc2d77abf_0_199"/>
          <p:cNvSpPr txBox="1"/>
          <p:nvPr/>
        </p:nvSpPr>
        <p:spPr>
          <a:xfrm>
            <a:off x="6729525" y="1627264"/>
            <a:ext cx="14676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Infraestrutura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6" name="Google Shape;546;g3ddc2d77abf_0_199"/>
          <p:cNvSpPr txBox="1"/>
          <p:nvPr/>
        </p:nvSpPr>
        <p:spPr>
          <a:xfrm>
            <a:off x="6762975" y="2291039"/>
            <a:ext cx="14007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Comunicação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7" name="Google Shape;547;g3ddc2d77abf_0_199"/>
          <p:cNvSpPr/>
          <p:nvPr/>
        </p:nvSpPr>
        <p:spPr>
          <a:xfrm rot="-1534027">
            <a:off x="5618985" y="2037681"/>
            <a:ext cx="1132382" cy="15565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8" name="Google Shape;548;g3ddc2d77abf_0_199"/>
          <p:cNvSpPr/>
          <p:nvPr/>
        </p:nvSpPr>
        <p:spPr>
          <a:xfrm rot="1340618">
            <a:off x="5634788" y="2917793"/>
            <a:ext cx="947757" cy="155656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9" name="Google Shape;549;g3ddc2d77abf_0_199"/>
          <p:cNvSpPr/>
          <p:nvPr/>
        </p:nvSpPr>
        <p:spPr>
          <a:xfrm rot="911">
            <a:off x="5618935" y="2508918"/>
            <a:ext cx="1132500" cy="155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dc2d77abf_0_20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CORREÇÃO</a:t>
            </a:r>
            <a:endParaRPr/>
          </a:p>
        </p:txBody>
      </p:sp>
      <p:sp>
        <p:nvSpPr>
          <p:cNvPr id="555" name="Google Shape;555;g3ddc2d77abf_0_205"/>
          <p:cNvSpPr txBox="1"/>
          <p:nvPr/>
        </p:nvSpPr>
        <p:spPr>
          <a:xfrm>
            <a:off x="668850" y="1012200"/>
            <a:ext cx="3993000" cy="3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calcularTotal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salvarNoBanco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EmailService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enviarEmail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56" name="Google Shape;556;g3ddc2d77abf_0_205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00" y="3931200"/>
            <a:ext cx="1062000" cy="10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ddc2d77abf_0_205"/>
          <p:cNvSpPr txBox="1"/>
          <p:nvPr/>
        </p:nvSpPr>
        <p:spPr>
          <a:xfrm>
            <a:off x="4884100" y="1527900"/>
            <a:ext cx="39357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repository;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EmailService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emailService;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dc2d77abf_0_22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temos um componente que recebe e coordena uma operação do sistema, organizando a interação entre outros componentes. Por exemplo, podemos ter uma classe </a:t>
            </a:r>
            <a:r>
              <a:rPr b="1" lang="pt-BR"/>
              <a:t>ProcessadorVenda</a:t>
            </a:r>
            <a:r>
              <a:rPr lang="pt-BR"/>
              <a:t> que recebe o clique do botão “Finalizar” e delega as ações para os objetos de negócio. Isso permite separarmos a lógica de apresentação da lógica de negócio da aplicação.</a:t>
            </a:r>
            <a:endParaRPr/>
          </a:p>
        </p:txBody>
      </p:sp>
      <p:sp>
        <p:nvSpPr>
          <p:cNvPr id="563" name="Google Shape;563;g3ddc2d77abf_0_221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CONTROLADOR</a:t>
            </a:r>
            <a:endParaRPr/>
          </a:p>
        </p:txBody>
      </p:sp>
      <p:sp>
        <p:nvSpPr>
          <p:cNvPr id="564" name="Google Shape;564;g3ddc2d77abf_0_22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ddc2d77abf_0_22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ddc2d77abf_0_22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g3ddc2d77abf_0_221"/>
          <p:cNvPicPr preferRelativeResize="0"/>
          <p:nvPr/>
        </p:nvPicPr>
        <p:blipFill rotWithShape="1">
          <a:blip r:embed="rId3">
            <a:alphaModFix/>
          </a:blip>
          <a:srcRect b="0" l="6537" r="10400" t="0"/>
          <a:stretch/>
        </p:blipFill>
        <p:spPr>
          <a:xfrm>
            <a:off x="0" y="1518938"/>
            <a:ext cx="3224400" cy="2586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dc2d77abf_0_2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573" name="Google Shape;573;g3ddc2d77abf_0_241"/>
          <p:cNvSpPr txBox="1"/>
          <p:nvPr/>
        </p:nvSpPr>
        <p:spPr>
          <a:xfrm>
            <a:off x="1701000" y="1384398"/>
            <a:ext cx="57420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ProcessarPedidosController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service;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ProdutorMensageria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produtor;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handle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PedidoProcessado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processado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.service.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(processado.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sucesso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.produtor.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publicar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(processado);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dc2d77abf_0_24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Fachada do sistema</a:t>
            </a:r>
            <a:r>
              <a:rPr lang="pt-BR"/>
              <a:t>: encapsulam a orquestração de componentes para desempenhar operações.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Controlador de caso de uso</a:t>
            </a:r>
            <a:r>
              <a:rPr lang="pt-BR"/>
              <a:t>: contém os componentes necessários para atender a um cenário específico.</a:t>
            </a:r>
            <a:endParaRPr/>
          </a:p>
        </p:txBody>
      </p:sp>
      <p:sp>
        <p:nvSpPr>
          <p:cNvPr id="579" name="Google Shape;579;g3ddc2d77abf_0_24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TIPOS DE CONTROLADOR</a:t>
            </a:r>
            <a:endParaRPr sz="2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dc2d77abf_0_254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PADRÕES AVANÇADOS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dc2d77abf_0_25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tratamos variações de comportamento com base em tipos de objetos. Ao invés de utilizarmos </a:t>
            </a:r>
            <a:r>
              <a:rPr b="1" lang="pt-BR"/>
              <a:t>if(tipo == “Pix”)</a:t>
            </a:r>
            <a:r>
              <a:rPr lang="pt-BR"/>
              <a:t> ou </a:t>
            </a:r>
            <a:r>
              <a:rPr b="1" lang="pt-BR"/>
              <a:t>if(tipo == “Cartão”)</a:t>
            </a:r>
            <a:r>
              <a:rPr lang="pt-BR"/>
              <a:t>, criamos uma interface </a:t>
            </a:r>
            <a:r>
              <a:rPr b="1" lang="pt-BR"/>
              <a:t>Pagamento</a:t>
            </a:r>
            <a:r>
              <a:rPr lang="pt-BR"/>
              <a:t> e deixamos cada classe implementar seu método. Isso nos permite adicionar novos comportamentos sem alterar o código existente.</a:t>
            </a:r>
            <a:endParaRPr/>
          </a:p>
        </p:txBody>
      </p:sp>
      <p:sp>
        <p:nvSpPr>
          <p:cNvPr id="590" name="Google Shape;590;g3ddc2d77abf_0_258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POLIMORFISMO</a:t>
            </a:r>
            <a:endParaRPr/>
          </a:p>
        </p:txBody>
      </p:sp>
      <p:sp>
        <p:nvSpPr>
          <p:cNvPr id="591" name="Google Shape;591;g3ddc2d77abf_0_25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ddc2d77abf_0_25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ddc2d77abf_0_25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g3ddc2d77abf_0_258"/>
          <p:cNvPicPr preferRelativeResize="0"/>
          <p:nvPr/>
        </p:nvPicPr>
        <p:blipFill rotWithShape="1">
          <a:blip r:embed="rId3">
            <a:alphaModFix/>
          </a:blip>
          <a:srcRect b="0" l="31596" r="0" t="0"/>
          <a:stretch/>
        </p:blipFill>
        <p:spPr>
          <a:xfrm>
            <a:off x="0" y="1633623"/>
            <a:ext cx="3224399" cy="2356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dc2d77abf_0_26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 RUIM</a:t>
            </a:r>
            <a:endParaRPr/>
          </a:p>
        </p:txBody>
      </p:sp>
      <p:sp>
        <p:nvSpPr>
          <p:cNvPr id="600" name="Google Shape;600;g3ddc2d77abf_0_266"/>
          <p:cNvSpPr txBox="1"/>
          <p:nvPr/>
        </p:nvSpPr>
        <p:spPr>
          <a:xfrm>
            <a:off x="1811250" y="1082065"/>
            <a:ext cx="5521500" cy="27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tipoPagamento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equals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"PIX"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)){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processarPix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tipoPagamento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equals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"CREDITO"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)){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processarCartaoCredito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processarCartaoDebito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01" name="Google Shape;601;g3ddc2d77abf_0_266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932382"/>
            <a:ext cx="1060550" cy="105136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g3ddc2d77abf_0_266"/>
          <p:cNvSpPr txBox="1"/>
          <p:nvPr/>
        </p:nvSpPr>
        <p:spPr>
          <a:xfrm>
            <a:off x="1522200" y="3890975"/>
            <a:ext cx="42393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Alto acoplamento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Difícil de estender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Viola o princípio Aberto/Fechado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dc2d77abf_0_27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CORREÇÃO</a:t>
            </a:r>
            <a:endParaRPr/>
          </a:p>
        </p:txBody>
      </p:sp>
      <p:sp>
        <p:nvSpPr>
          <p:cNvPr id="608" name="Google Shape;608;g3ddc2d77abf_0_278"/>
          <p:cNvSpPr txBox="1"/>
          <p:nvPr/>
        </p:nvSpPr>
        <p:spPr>
          <a:xfrm>
            <a:off x="244575" y="1012200"/>
            <a:ext cx="4179900" cy="3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PagamentoPix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0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Processa o PIX</a:t>
            </a:r>
            <a:endParaRPr sz="100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PagamentoCredito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0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Processa o cartão de crédito</a:t>
            </a:r>
            <a:endParaRPr sz="100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09" name="Google Shape;609;g3ddc2d77abf_0_278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00" y="3931200"/>
            <a:ext cx="1062000" cy="10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g3ddc2d77abf_0_278"/>
          <p:cNvSpPr txBox="1"/>
          <p:nvPr/>
        </p:nvSpPr>
        <p:spPr>
          <a:xfrm>
            <a:off x="4506125" y="1527900"/>
            <a:ext cx="4572900" cy="24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Pagamento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pagamento;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9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Pagamento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pagamento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.pagamento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pagamento;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9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9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9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.pagamento.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(pedido.</a:t>
            </a:r>
            <a:r>
              <a:rPr lang="pt-BR" sz="9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dc2d77abf_0_28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Na Fabricação Pura, criamos uma classe que não representa algo do mundo real para manter o design limpo. Para entender isso, imagine um componente responsável por salvar dados de um cliente no banco de dados: um repositório não existe no mundo real, mas ele é usado para melhorar a coesão, reduzir o acoplamento e organizar responsabilidades dentro da aplicação.</a:t>
            </a:r>
            <a:endParaRPr/>
          </a:p>
        </p:txBody>
      </p:sp>
      <p:sp>
        <p:nvSpPr>
          <p:cNvPr id="616" name="Google Shape;616;g3ddc2d77abf_0_289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FABRICAÇÃO PURA</a:t>
            </a:r>
            <a:endParaRPr/>
          </a:p>
        </p:txBody>
      </p:sp>
      <p:sp>
        <p:nvSpPr>
          <p:cNvPr id="617" name="Google Shape;617;g3ddc2d77abf_0_28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ddc2d77abf_0_28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ddc2d77abf_0_28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g3ddc2d77abf_0_289"/>
          <p:cNvPicPr preferRelativeResize="0"/>
          <p:nvPr/>
        </p:nvPicPr>
        <p:blipFill rotWithShape="1">
          <a:blip r:embed="rId3">
            <a:alphaModFix/>
          </a:blip>
          <a:srcRect b="11327" l="6975" r="7129" t="11880"/>
          <a:stretch/>
        </p:blipFill>
        <p:spPr>
          <a:xfrm>
            <a:off x="96563" y="1510400"/>
            <a:ext cx="3031275" cy="26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dc2d77abf_0_29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626" name="Google Shape;626;g3ddc2d77abf_0_297"/>
          <p:cNvSpPr txBox="1"/>
          <p:nvPr/>
        </p:nvSpPr>
        <p:spPr>
          <a:xfrm>
            <a:off x="2546400" y="1148789"/>
            <a:ext cx="4051200" cy="3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salvarNoBanco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PedidoRepository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repository;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ddc2d77abf_0_31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colocamos um objeto intermediário entre dois outros para eliminarmos seu acoplamento. Essa classe intermediária pode representar um </a:t>
            </a:r>
            <a:r>
              <a:rPr b="1" lang="pt-BR"/>
              <a:t>Adaptador</a:t>
            </a:r>
            <a:r>
              <a:rPr lang="pt-BR"/>
              <a:t> ou </a:t>
            </a:r>
            <a:r>
              <a:rPr b="1" lang="pt-BR"/>
              <a:t>Mediador</a:t>
            </a:r>
            <a:r>
              <a:rPr lang="pt-BR"/>
              <a:t>, onde uma classe A fala com o intermediário, que fala com uma classe B. Isso quebra o vínculo direto entre os componentes, permitindo que ambos evoluam separadamente.</a:t>
            </a:r>
            <a:endParaRPr/>
          </a:p>
        </p:txBody>
      </p:sp>
      <p:sp>
        <p:nvSpPr>
          <p:cNvPr id="632" name="Google Shape;632;g3ddc2d77abf_0_314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INDIREÇÃO</a:t>
            </a:r>
            <a:endParaRPr/>
          </a:p>
        </p:txBody>
      </p:sp>
      <p:sp>
        <p:nvSpPr>
          <p:cNvPr id="633" name="Google Shape;633;g3ddc2d77abf_0_31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ddc2d77abf_0_31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ddc2d77abf_0_31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g3ddc2d77abf_0_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75" y="1483375"/>
            <a:ext cx="2657450" cy="26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dc2d77abf_0_32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642" name="Google Shape;642;g3ddc2d77abf_0_323"/>
          <p:cNvSpPr txBox="1"/>
          <p:nvPr/>
        </p:nvSpPr>
        <p:spPr>
          <a:xfrm>
            <a:off x="2546400" y="1248791"/>
            <a:ext cx="4346100" cy="2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PagamentoGateway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gateway;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PedidoService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PagamentoGateway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gateway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.gateway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gateway;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pedido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.gateway.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(pedido);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ddc2d77abf_0_32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Neste princípio, identificamos pontos de mudança provável e criamos uma interface estável ao redor delas. Por exemplo, se o fornecedor de envio de SMS pode mudar, crie uma interface </a:t>
            </a:r>
            <a:r>
              <a:rPr b="1" lang="pt-BR"/>
              <a:t>SmsService</a:t>
            </a:r>
            <a:r>
              <a:rPr lang="pt-BR"/>
              <a:t> e faça o sistema usar a interface já que, como esperado, quem estiver por trás do envio de SMS pode mudar por qualquer motivo.</a:t>
            </a:r>
            <a:endParaRPr/>
          </a:p>
        </p:txBody>
      </p:sp>
      <p:sp>
        <p:nvSpPr>
          <p:cNvPr id="648" name="Google Shape;648;g3ddc2d77abf_0_329"/>
          <p:cNvSpPr txBox="1"/>
          <p:nvPr>
            <p:ph type="title"/>
          </p:nvPr>
        </p:nvSpPr>
        <p:spPr>
          <a:xfrm>
            <a:off x="3698275" y="1323800"/>
            <a:ext cx="492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VARIAÇÕES PROTEGIDAS</a:t>
            </a:r>
            <a:endParaRPr/>
          </a:p>
        </p:txBody>
      </p:sp>
      <p:sp>
        <p:nvSpPr>
          <p:cNvPr id="649" name="Google Shape;649;g3ddc2d77abf_0_32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ddc2d77abf_0_32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ddc2d77abf_0_32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g3ddc2d77abf_0_3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7287"/>
            <a:ext cx="3224400" cy="2149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dc2d77abf_0_33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EXEMPLO RUIM</a:t>
            </a:r>
            <a:endParaRPr/>
          </a:p>
        </p:txBody>
      </p:sp>
      <p:sp>
        <p:nvSpPr>
          <p:cNvPr id="658" name="Google Shape;658;g3ddc2d77abf_0_337"/>
          <p:cNvSpPr txBox="1"/>
          <p:nvPr/>
        </p:nvSpPr>
        <p:spPr>
          <a:xfrm>
            <a:off x="2490900" y="1600800"/>
            <a:ext cx="4162200" cy="19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PagamentoService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StripeGateway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gateway;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.gateway.</a:t>
            </a:r>
            <a:r>
              <a:rPr lang="pt-BR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59" name="Google Shape;659;g3ddc2d77abf_0_337" title="meme-drake-nao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932382"/>
            <a:ext cx="1060550" cy="105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dc2d77abf_0_34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CORREÇÃO</a:t>
            </a:r>
            <a:endParaRPr/>
          </a:p>
        </p:txBody>
      </p:sp>
      <p:sp>
        <p:nvSpPr>
          <p:cNvPr id="665" name="Google Shape;665;g3ddc2d77abf_0_344"/>
          <p:cNvSpPr txBox="1"/>
          <p:nvPr/>
        </p:nvSpPr>
        <p:spPr>
          <a:xfrm>
            <a:off x="2004000" y="1012200"/>
            <a:ext cx="51360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PagamentoGateway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StripeGateway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PagamentoGateway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MercadoPagoGateway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PagamentoGateway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PagamentoService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PagamentoGateway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gateway;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0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DadosPagamento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.gateway.</a:t>
            </a:r>
            <a:r>
              <a:rPr lang="pt-BR" sz="10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processar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00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dados</a:t>
            </a: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66" name="Google Shape;666;g3ddc2d77abf_0_344" title="meme-drake-quer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00" y="3931200"/>
            <a:ext cx="1062000" cy="10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ddc2d77abf_0_354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CONCLUSÃO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dc2d77abf_0_358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 foco dos padrões GRASP não está concentrado diretamente na implementação de um componente de fato, mas sim em como ele interage e como ele se comporta dentro de um sistema complexo, permitindo obter benefícios de boas modelagens que favoreçam manutenção e extensão de funcionalidades.</a:t>
            </a:r>
            <a:endParaRPr/>
          </a:p>
        </p:txBody>
      </p:sp>
      <p:sp>
        <p:nvSpPr>
          <p:cNvPr id="677" name="Google Shape;677;g3ddc2d77abf_0_35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PRINCÍPIOS DE DESIGN</a:t>
            </a:r>
            <a:endParaRPr sz="2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Definição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Benefícios dos princípios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fundamentais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avançados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Exemplos</a:t>
            </a:r>
            <a:endParaRPr/>
          </a:p>
        </p:txBody>
      </p:sp>
      <p:sp>
        <p:nvSpPr>
          <p:cNvPr id="683" name="Google Shape;683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84" name="Google Shape;684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7" name="Google Shape;687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ddc2d77abf_0_363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693" name="Google Shape;693;g3ddc2d77abf_0_363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FALICEU!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José Adilson Rodrigues dos Santos, a.k.a. Maguila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94" name="Google Shape;694;g3ddc2d77abf_0_363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g3ddc2d77abf_0_363"/>
          <p:cNvPicPr preferRelativeResize="0"/>
          <p:nvPr/>
        </p:nvPicPr>
        <p:blipFill rotWithShape="1">
          <a:blip r:embed="rId3">
            <a:alphaModFix/>
          </a:blip>
          <a:srcRect b="0" l="18978" r="7178" t="0"/>
          <a:stretch/>
        </p:blipFill>
        <p:spPr>
          <a:xfrm>
            <a:off x="135950" y="1648400"/>
            <a:ext cx="2097600" cy="26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