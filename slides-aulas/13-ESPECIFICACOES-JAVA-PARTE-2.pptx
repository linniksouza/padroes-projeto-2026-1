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Proxima Nova"/>
      <p:regular r:id="rId44"/>
      <p:bold r:id="rId45"/>
      <p:italic r:id="rId46"/>
      <p:boldItalic r:id="rId47"/>
    </p:embeddedFont>
    <p:embeddedFont>
      <p:font typeface="Anaheim"/>
      <p:regular r:id="rId48"/>
      <p:bold r:id="rId49"/>
    </p:embeddedFont>
    <p:embeddedFont>
      <p:font typeface="Barlow Condensed ExtraBold"/>
      <p:bold r:id="rId50"/>
      <p:boldItalic r:id="rId51"/>
    </p:embeddedFont>
    <p:embeddedFont>
      <p:font typeface="Proxima Nova Semibold"/>
      <p:regular r:id="rId52"/>
      <p:bold r:id="rId53"/>
      <p:boldItalic r:id="rId54"/>
    </p:embeddedFont>
    <p:embeddedFont>
      <p:font typeface="Overpass Mono"/>
      <p:regular r:id="rId55"/>
      <p:bold r:id="rId56"/>
    </p:embeddedFont>
    <p:embeddedFont>
      <p:font typeface="Barlow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1" roundtripDataSignature="AMtx7mjIsFTLsFCq3jiDb/VHZS8yYXAN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ProximaNova-regular.fntdata"/><Relationship Id="rId43" Type="http://schemas.openxmlformats.org/officeDocument/2006/relationships/slide" Target="slides/slide38.xml"/><Relationship Id="rId46" Type="http://schemas.openxmlformats.org/officeDocument/2006/relationships/font" Target="fonts/ProximaNova-italic.fntdata"/><Relationship Id="rId45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Anaheim-regular.fntdata"/><Relationship Id="rId47" Type="http://schemas.openxmlformats.org/officeDocument/2006/relationships/font" Target="fonts/ProximaNova-boldItalic.fntdata"/><Relationship Id="rId49" Type="http://schemas.openxmlformats.org/officeDocument/2006/relationships/font" Target="fonts/Anahei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Barlow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BarlowCondensedExtraBold-boldItalic.fntdata"/><Relationship Id="rId50" Type="http://schemas.openxmlformats.org/officeDocument/2006/relationships/font" Target="fonts/BarlowCondensedExtraBold-bold.fntdata"/><Relationship Id="rId53" Type="http://schemas.openxmlformats.org/officeDocument/2006/relationships/font" Target="fonts/ProximaNovaSemibold-bold.fntdata"/><Relationship Id="rId52" Type="http://schemas.openxmlformats.org/officeDocument/2006/relationships/font" Target="fonts/ProximaNovaSemibold-regular.fntdata"/><Relationship Id="rId11" Type="http://schemas.openxmlformats.org/officeDocument/2006/relationships/slide" Target="slides/slide6.xml"/><Relationship Id="rId55" Type="http://schemas.openxmlformats.org/officeDocument/2006/relationships/font" Target="fonts/OverpassMono-regular.fntdata"/><Relationship Id="rId10" Type="http://schemas.openxmlformats.org/officeDocument/2006/relationships/slide" Target="slides/slide5.xml"/><Relationship Id="rId54" Type="http://schemas.openxmlformats.org/officeDocument/2006/relationships/font" Target="fonts/ProximaNovaSemibold-boldItalic.fntdata"/><Relationship Id="rId13" Type="http://schemas.openxmlformats.org/officeDocument/2006/relationships/slide" Target="slides/slide8.xml"/><Relationship Id="rId57" Type="http://schemas.openxmlformats.org/officeDocument/2006/relationships/font" Target="fonts/Barlow-regular.fntdata"/><Relationship Id="rId12" Type="http://schemas.openxmlformats.org/officeDocument/2006/relationships/slide" Target="slides/slide7.xml"/><Relationship Id="rId56" Type="http://schemas.openxmlformats.org/officeDocument/2006/relationships/font" Target="fonts/OverpassMono-bold.fntdata"/><Relationship Id="rId15" Type="http://schemas.openxmlformats.org/officeDocument/2006/relationships/slide" Target="slides/slide10.xml"/><Relationship Id="rId59" Type="http://schemas.openxmlformats.org/officeDocument/2006/relationships/font" Target="fonts/Barlow-italic.fntdata"/><Relationship Id="rId14" Type="http://schemas.openxmlformats.org/officeDocument/2006/relationships/slide" Target="slides/slide9.xml"/><Relationship Id="rId58" Type="http://schemas.openxmlformats.org/officeDocument/2006/relationships/font" Target="fonts/Barlow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0a6dd2528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20a6dd2528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4e1f42ad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e4e1f42ad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4e1f42ad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e4e1f42a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4e1f42ad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e4e1f42ad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4e1f42ad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e4e1f42ad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53300b827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253300b827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4e1f42ad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e4e1f42ad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e4e1f42ad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e4e1f42ad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e4e1f42ad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e4e1f42ad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4e1f42ad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e4e1f42ad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4e1f42ad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e4e1f42ad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e4e1f42ad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e4e1f42ad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e4e1f42ad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3e4e1f42ad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4e1f42ad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e4e1f42ad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e4e1f42ad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e4e1f42ad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e4e1f42ad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g3e4e1f42ad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e4e1f42a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e4e1f42a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50257ca9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g3e50257ca9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50257ca9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g3e50257ca9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50257ca9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g3e50257ca9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e50257ca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3e50257ca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e50257ca9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g3e50257ca9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e4e1f42ad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e4e1f42ad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e50257ca9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g3e50257ca9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e50257ca9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e50257ca9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e50257ca9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3e50257ca9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50257ca9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g3e50257ca9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e50257ca9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g3e50257ca9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e50257ca9a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g3e50257ca9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e50257ca9a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g3e50257ca9a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e50257ca9a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3e50257ca9a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e50257ca9a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g3e50257ca9a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e50257ca9a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g3e50257ca9a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e50257ca9a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e50257ca9a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e50257ca9a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g3e50257ca9a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0a70d3dc02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g20a70d3dc02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9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9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47" name="Google Shape;47;p29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ta al pie">
  <p:cSld name="CAPTION_ONLY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/>
          <p:nvPr/>
        </p:nvSpPr>
        <p:spPr>
          <a:xfrm>
            <a:off x="7928639" y="1"/>
            <a:ext cx="1215355" cy="402011"/>
          </a:xfrm>
          <a:custGeom>
            <a:rect b="b" l="l" r="r" t="t"/>
            <a:pathLst>
              <a:path extrusionOk="0" h="5002" w="15122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2"/>
          <p:cNvSpPr/>
          <p:nvPr/>
        </p:nvSpPr>
        <p:spPr>
          <a:xfrm>
            <a:off x="3511525" y="783700"/>
            <a:ext cx="5632410" cy="2353867"/>
          </a:xfrm>
          <a:custGeom>
            <a:rect b="b" l="l" r="r" t="t"/>
            <a:pathLst>
              <a:path extrusionOk="0" h="27529" w="70081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32"/>
          <p:cNvSpPr/>
          <p:nvPr/>
        </p:nvSpPr>
        <p:spPr>
          <a:xfrm>
            <a:off x="5865073" y="3429550"/>
            <a:ext cx="1215342" cy="259665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2"/>
          <p:cNvSpPr/>
          <p:nvPr/>
        </p:nvSpPr>
        <p:spPr>
          <a:xfrm>
            <a:off x="8018936" y="3429550"/>
            <a:ext cx="1124989" cy="259686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/>
          <p:nvPr/>
        </p:nvSpPr>
        <p:spPr>
          <a:xfrm>
            <a:off x="7083824" y="3429550"/>
            <a:ext cx="259727" cy="259665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2"/>
          <p:cNvSpPr/>
          <p:nvPr/>
        </p:nvSpPr>
        <p:spPr>
          <a:xfrm>
            <a:off x="7496607" y="3429550"/>
            <a:ext cx="259707" cy="259686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60" name="Google Shape;60;p33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3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3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3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3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3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3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3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3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3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3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3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3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3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3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3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3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3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94" name="Google Shape;94;p35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35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6" name="Google Shape;96;p35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35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8" name="Google Shape;98;p35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USTOM_10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 txBox="1"/>
          <p:nvPr>
            <p:ph idx="1" type="subTitle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101" name="Google Shape;101;p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8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0"/>
          <p:cNvSpPr/>
          <p:nvPr/>
        </p:nvSpPr>
        <p:spPr>
          <a:xfrm>
            <a:off x="5445850" y="1359975"/>
            <a:ext cx="3697248" cy="1208576"/>
          </a:xfrm>
          <a:custGeom>
            <a:rect b="b" l="l" r="r" t="t"/>
            <a:pathLst>
              <a:path extrusionOk="0" h="37768" w="115539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0"/>
          <p:cNvSpPr/>
          <p:nvPr/>
        </p:nvSpPr>
        <p:spPr>
          <a:xfrm>
            <a:off x="-899" y="2568525"/>
            <a:ext cx="3697248" cy="1208544"/>
          </a:xfrm>
          <a:custGeom>
            <a:rect b="b" l="l" r="r" t="t"/>
            <a:pathLst>
              <a:path extrusionOk="0" h="37767" w="115539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0"/>
          <p:cNvSpPr/>
          <p:nvPr/>
        </p:nvSpPr>
        <p:spPr>
          <a:xfrm>
            <a:off x="-905" y="-3217"/>
            <a:ext cx="3697248" cy="357024"/>
          </a:xfrm>
          <a:custGeom>
            <a:rect b="b" l="l" r="r" t="t"/>
            <a:pathLst>
              <a:path extrusionOk="0" h="11157" w="115539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0"/>
          <p:cNvSpPr/>
          <p:nvPr/>
        </p:nvSpPr>
        <p:spPr>
          <a:xfrm>
            <a:off x="-905" y="3584623"/>
            <a:ext cx="417216" cy="384864"/>
          </a:xfrm>
          <a:custGeom>
            <a:rect b="b" l="l" r="r" t="t"/>
            <a:pathLst>
              <a:path extrusionOk="0" h="12027" w="13038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0"/>
          <p:cNvSpPr/>
          <p:nvPr/>
        </p:nvSpPr>
        <p:spPr>
          <a:xfrm>
            <a:off x="8017591" y="1161103"/>
            <a:ext cx="1125504" cy="384832"/>
          </a:xfrm>
          <a:custGeom>
            <a:rect b="b" l="l" r="r" t="t"/>
            <a:pathLst>
              <a:path extrusionOk="0" h="12026" w="35172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0"/>
          <p:cNvSpPr txBox="1"/>
          <p:nvPr>
            <p:ph idx="1" type="subTitle"/>
          </p:nvPr>
        </p:nvSpPr>
        <p:spPr>
          <a:xfrm>
            <a:off x="5626675" y="1941426"/>
            <a:ext cx="2391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50"/>
          <p:cNvSpPr txBox="1"/>
          <p:nvPr>
            <p:ph idx="2" type="subTitle"/>
          </p:nvPr>
        </p:nvSpPr>
        <p:spPr>
          <a:xfrm>
            <a:off x="1129300" y="3151101"/>
            <a:ext cx="239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0" name="Google Shape;110;p50"/>
          <p:cNvSpPr txBox="1"/>
          <p:nvPr>
            <p:ph type="title"/>
          </p:nvPr>
        </p:nvSpPr>
        <p:spPr>
          <a:xfrm>
            <a:off x="1125100" y="2794025"/>
            <a:ext cx="2395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50"/>
          <p:cNvSpPr txBox="1"/>
          <p:nvPr>
            <p:ph idx="3" type="title"/>
          </p:nvPr>
        </p:nvSpPr>
        <p:spPr>
          <a:xfrm>
            <a:off x="5626675" y="1582550"/>
            <a:ext cx="2395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6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6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6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6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6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6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6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6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6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6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6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6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6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6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6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6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6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36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7ED"/>
              </a:buClr>
              <a:buSzPts val="8000"/>
              <a:buNone/>
              <a:defRPr sz="8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36" name="Google Shape;136;p30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/>
          <p:nvPr/>
        </p:nvSpPr>
        <p:spPr>
          <a:xfrm flipH="1">
            <a:off x="27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1"/>
          <p:cNvSpPr/>
          <p:nvPr/>
        </p:nvSpPr>
        <p:spPr>
          <a:xfrm flipH="1">
            <a:off x="3" y="912525"/>
            <a:ext cx="3076570" cy="355301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1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1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1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 flipH="1">
            <a:off x="29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 flipH="1">
            <a:off x="1299941" y="3268775"/>
            <a:ext cx="490759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>
            <a:off x="13" y="3858250"/>
            <a:ext cx="1457311" cy="355322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 flipH="1">
            <a:off x="7377202" y="3858250"/>
            <a:ext cx="1766704" cy="355322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1"/>
          <p:cNvSpPr/>
          <p:nvPr/>
        </p:nvSpPr>
        <p:spPr>
          <a:xfrm flipH="1">
            <a:off x="7488607" y="2679300"/>
            <a:ext cx="165529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1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1"/>
          <p:cNvSpPr/>
          <p:nvPr/>
        </p:nvSpPr>
        <p:spPr>
          <a:xfrm flipH="1">
            <a:off x="3895732" y="323025"/>
            <a:ext cx="4819643" cy="355322"/>
          </a:xfrm>
          <a:custGeom>
            <a:rect b="b" l="l" r="r" t="t"/>
            <a:pathLst>
              <a:path extrusionOk="0" h="2763" w="18087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1"/>
          <p:cNvSpPr/>
          <p:nvPr/>
        </p:nvSpPr>
        <p:spPr>
          <a:xfrm flipH="1">
            <a:off x="2611243" y="4446200"/>
            <a:ext cx="6532757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2094068" y="1123143"/>
            <a:ext cx="4955589" cy="3012341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1"/>
          <p:cNvSpPr/>
          <p:nvPr/>
        </p:nvSpPr>
        <p:spPr>
          <a:xfrm flipH="1">
            <a:off x="1647812" y="3858250"/>
            <a:ext cx="1766688" cy="355322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/>
          <p:nvPr/>
        </p:nvSpPr>
        <p:spPr>
          <a:xfrm flipH="1">
            <a:off x="6667517" y="3268775"/>
            <a:ext cx="1246883" cy="355450"/>
          </a:xfrm>
          <a:custGeom>
            <a:rect b="b" l="l" r="r" t="t"/>
            <a:pathLst>
              <a:path extrusionOk="0" h="2764" w="18027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/>
          <p:nvPr/>
        </p:nvSpPr>
        <p:spPr>
          <a:xfrm flipH="1">
            <a:off x="5729417" y="912525"/>
            <a:ext cx="985703" cy="355301"/>
          </a:xfrm>
          <a:custGeom>
            <a:rect b="b" l="l" r="r" t="t"/>
            <a:pathLst>
              <a:path extrusionOk="0" h="2763" w="12443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1"/>
          <p:cNvSpPr txBox="1"/>
          <p:nvPr>
            <p:ph idx="1" type="subTitle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b="1" sz="160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31"/>
          <p:cNvSpPr txBox="1"/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39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39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9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9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9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9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9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1" name="Google Shape;181;p41"/>
          <p:cNvSpPr txBox="1"/>
          <p:nvPr>
            <p:ph idx="1" type="subTitle"/>
          </p:nvPr>
        </p:nvSpPr>
        <p:spPr>
          <a:xfrm flipH="1">
            <a:off x="1456725" y="1617100"/>
            <a:ext cx="1960800" cy="10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1"/>
          <p:cNvSpPr/>
          <p:nvPr/>
        </p:nvSpPr>
        <p:spPr>
          <a:xfrm>
            <a:off x="0" y="2689849"/>
            <a:ext cx="2770896" cy="1033530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1"/>
          <p:cNvSpPr/>
          <p:nvPr/>
        </p:nvSpPr>
        <p:spPr>
          <a:xfrm>
            <a:off x="0" y="0"/>
            <a:ext cx="1278158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7" name="Google Shape;187;p42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2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3"/>
          <p:cNvSpPr txBox="1"/>
          <p:nvPr>
            <p:ph idx="1" type="body"/>
          </p:nvPr>
        </p:nvSpPr>
        <p:spPr>
          <a:xfrm>
            <a:off x="311700" y="3306869"/>
            <a:ext cx="8520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1" name="Google Shape;191;p43"/>
          <p:cNvSpPr/>
          <p:nvPr/>
        </p:nvSpPr>
        <p:spPr>
          <a:xfrm rot="10800000">
            <a:off x="2751806" y="4243474"/>
            <a:ext cx="6391269" cy="904876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3"/>
          <p:cNvSpPr/>
          <p:nvPr/>
        </p:nvSpPr>
        <p:spPr>
          <a:xfrm rot="10800000">
            <a:off x="1361250" y="1501127"/>
            <a:ext cx="7781825" cy="152509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/>
          <p:nvPr/>
        </p:nvSpPr>
        <p:spPr>
          <a:xfrm rot="10800000">
            <a:off x="2" y="1"/>
            <a:ext cx="5791098" cy="505550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 rot="10800000">
            <a:off x="21" y="1501871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/>
          <p:nvPr/>
        </p:nvSpPr>
        <p:spPr>
          <a:xfrm rot="10800000">
            <a:off x="532482" y="912524"/>
            <a:ext cx="1055445" cy="355301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 rot="10800000"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3"/>
          <p:cNvSpPr/>
          <p:nvPr/>
        </p:nvSpPr>
        <p:spPr>
          <a:xfrm rot="10800000">
            <a:off x="1814348" y="912516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3"/>
          <p:cNvSpPr/>
          <p:nvPr/>
        </p:nvSpPr>
        <p:spPr>
          <a:xfrm rot="10800000">
            <a:off x="4523560" y="323049"/>
            <a:ext cx="2095515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3"/>
          <p:cNvSpPr/>
          <p:nvPr/>
        </p:nvSpPr>
        <p:spPr>
          <a:xfrm rot="10800000">
            <a:off x="7381057" y="3345678"/>
            <a:ext cx="1762943" cy="355322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3"/>
          <p:cNvSpPr/>
          <p:nvPr/>
        </p:nvSpPr>
        <p:spPr>
          <a:xfrm rot="10800000">
            <a:off x="-4" y="2084924"/>
            <a:ext cx="178555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3"/>
          <p:cNvSpPr/>
          <p:nvPr/>
        </p:nvSpPr>
        <p:spPr>
          <a:xfrm rot="10800000">
            <a:off x="656319" y="4788199"/>
            <a:ext cx="2628881" cy="355301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3"/>
          <p:cNvSpPr txBox="1"/>
          <p:nvPr>
            <p:ph hasCustomPrompt="1" type="title"/>
          </p:nvPr>
        </p:nvSpPr>
        <p:spPr>
          <a:xfrm>
            <a:off x="311700" y="1847850"/>
            <a:ext cx="85206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CUSTOM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45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206" name="Google Shape;206;p45"/>
            <p:cNvSpPr/>
            <p:nvPr/>
          </p:nvSpPr>
          <p:spPr>
            <a:xfrm>
              <a:off x="5439453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5"/>
            <p:cNvSpPr/>
            <p:nvPr/>
          </p:nvSpPr>
          <p:spPr>
            <a:xfrm>
              <a:off x="5723675" y="3632754"/>
              <a:ext cx="2948838" cy="131882"/>
            </a:xfrm>
            <a:custGeom>
              <a:rect b="b" l="l" r="r" t="t"/>
              <a:pathLst>
                <a:path extrusionOk="0" h="4121" w="92144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5"/>
            <p:cNvSpPr/>
            <p:nvPr/>
          </p:nvSpPr>
          <p:spPr>
            <a:xfrm>
              <a:off x="4574596" y="3360726"/>
              <a:ext cx="1353834" cy="131882"/>
            </a:xfrm>
            <a:custGeom>
              <a:rect b="b" l="l" r="r" t="t"/>
              <a:pathLst>
                <a:path extrusionOk="0" h="4121" w="42304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5"/>
            <p:cNvSpPr/>
            <p:nvPr/>
          </p:nvSpPr>
          <p:spPr>
            <a:xfrm>
              <a:off x="5129312" y="2816286"/>
              <a:ext cx="1148858" cy="131498"/>
            </a:xfrm>
            <a:custGeom>
              <a:rect b="b" l="l" r="r" t="t"/>
              <a:pathLst>
                <a:path extrusionOk="0" h="4109" w="35899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5"/>
            <p:cNvSpPr/>
            <p:nvPr/>
          </p:nvSpPr>
          <p:spPr>
            <a:xfrm>
              <a:off x="3376749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5"/>
            <p:cNvSpPr/>
            <p:nvPr/>
          </p:nvSpPr>
          <p:spPr>
            <a:xfrm>
              <a:off x="3077647" y="2816286"/>
              <a:ext cx="370397" cy="131498"/>
            </a:xfrm>
            <a:custGeom>
              <a:rect b="b" l="l" r="r" t="t"/>
              <a:pathLst>
                <a:path extrusionOk="0" h="4109" w="11574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5"/>
            <p:cNvSpPr/>
            <p:nvPr/>
          </p:nvSpPr>
          <p:spPr>
            <a:xfrm>
              <a:off x="3542860" y="2816286"/>
              <a:ext cx="139467" cy="131498"/>
            </a:xfrm>
            <a:custGeom>
              <a:rect b="b" l="l" r="r" t="t"/>
              <a:pathLst>
                <a:path extrusionOk="0" h="4109" w="4358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3723818" y="3088314"/>
              <a:ext cx="366205" cy="131882"/>
            </a:xfrm>
            <a:custGeom>
              <a:rect b="b" l="l" r="r" t="t"/>
              <a:pathLst>
                <a:path extrusionOk="0" h="4121" w="11443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5"/>
            <p:cNvSpPr/>
            <p:nvPr/>
          </p:nvSpPr>
          <p:spPr>
            <a:xfrm>
              <a:off x="2734770" y="3088314"/>
              <a:ext cx="891622" cy="131882"/>
            </a:xfrm>
            <a:custGeom>
              <a:rect b="b" l="l" r="r" t="t"/>
              <a:pathLst>
                <a:path extrusionOk="0" h="4121" w="27861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864832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1149054" y="3632754"/>
              <a:ext cx="2031679" cy="131882"/>
            </a:xfrm>
            <a:custGeom>
              <a:rect b="b" l="l" r="r" t="t"/>
              <a:pathLst>
                <a:path extrusionOk="0" h="4121" w="63485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-25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5"/>
            <p:cNvSpPr/>
            <p:nvPr/>
          </p:nvSpPr>
          <p:spPr>
            <a:xfrm>
              <a:off x="824064" y="2816286"/>
              <a:ext cx="1337833" cy="131498"/>
            </a:xfrm>
            <a:custGeom>
              <a:rect b="b" l="l" r="r" t="t"/>
              <a:pathLst>
                <a:path extrusionOk="0" h="4109" w="41804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5"/>
            <p:cNvSpPr/>
            <p:nvPr/>
          </p:nvSpPr>
          <p:spPr>
            <a:xfrm>
              <a:off x="582114" y="2816286"/>
              <a:ext cx="139499" cy="131498"/>
            </a:xfrm>
            <a:custGeom>
              <a:rect b="b" l="l" r="r" t="t"/>
              <a:pathLst>
                <a:path extrusionOk="0" h="4109" w="4359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5"/>
            <p:cNvSpPr/>
            <p:nvPr/>
          </p:nvSpPr>
          <p:spPr>
            <a:xfrm>
              <a:off x="8756420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5"/>
            <p:cNvSpPr/>
            <p:nvPr/>
          </p:nvSpPr>
          <p:spPr>
            <a:xfrm>
              <a:off x="7790219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5"/>
            <p:cNvSpPr/>
            <p:nvPr/>
          </p:nvSpPr>
          <p:spPr>
            <a:xfrm>
              <a:off x="6982098" y="2816286"/>
              <a:ext cx="1154938" cy="131498"/>
            </a:xfrm>
            <a:custGeom>
              <a:rect b="b" l="l" r="r" t="t"/>
              <a:pathLst>
                <a:path extrusionOk="0" h="4109" w="36089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5"/>
            <p:cNvSpPr/>
            <p:nvPr/>
          </p:nvSpPr>
          <p:spPr>
            <a:xfrm>
              <a:off x="8279016" y="2816286"/>
              <a:ext cx="139883" cy="131498"/>
            </a:xfrm>
            <a:custGeom>
              <a:rect b="b" l="l" r="r" t="t"/>
              <a:pathLst>
                <a:path extrusionOk="0" h="4109" w="4371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45"/>
          <p:cNvSpPr txBox="1"/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5"/>
          <p:cNvSpPr txBox="1"/>
          <p:nvPr>
            <p:ph idx="1" type="subTitle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6" name="Google Shape;226;p45"/>
          <p:cNvSpPr txBox="1"/>
          <p:nvPr>
            <p:ph idx="2" type="ctrTitle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45"/>
          <p:cNvSpPr txBox="1"/>
          <p:nvPr>
            <p:ph idx="3" type="subTitle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8" name="Google Shape;228;p45"/>
          <p:cNvSpPr txBox="1"/>
          <p:nvPr>
            <p:ph idx="4" type="ctrTitle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45"/>
          <p:cNvSpPr txBox="1"/>
          <p:nvPr>
            <p:ph idx="5" type="subTitle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30" name="Google Shape;230;p45"/>
          <p:cNvSpPr txBox="1"/>
          <p:nvPr>
            <p:ph idx="6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31" name="Google Shape;231;p45"/>
          <p:cNvSpPr txBox="1"/>
          <p:nvPr>
            <p:ph idx="7" type="ctrTitle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45"/>
          <p:cNvSpPr txBox="1"/>
          <p:nvPr>
            <p:ph idx="8" type="ctrTitle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6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6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6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6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6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0" name="Google Shape;240;p46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1" name="Google Shape;241;p46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2" name="Google Shape;242;p46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3" name="Google Shape;243;p46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46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6" name="Google Shape;246;p46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7" name="Google Shape;247;p46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8" name="Google Shape;248;p46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CUSTOM_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 txBox="1"/>
          <p:nvPr>
            <p:ph idx="2" type="ctrTitle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7"/>
          <p:cNvSpPr txBox="1"/>
          <p:nvPr>
            <p:ph idx="1" type="subTitle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3" name="Google Shape;253;p47"/>
          <p:cNvSpPr txBox="1"/>
          <p:nvPr>
            <p:ph idx="3" type="ctrTitle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 txBox="1"/>
          <p:nvPr>
            <p:ph idx="4" type="subTitle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47"/>
          <p:cNvSpPr txBox="1"/>
          <p:nvPr>
            <p:ph idx="5" type="ctrTitle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6" type="subTitle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7" name="Google Shape;257;p47"/>
          <p:cNvSpPr txBox="1"/>
          <p:nvPr>
            <p:ph idx="7"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47"/>
          <p:cNvSpPr txBox="1"/>
          <p:nvPr>
            <p:ph idx="8" type="subTitle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4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/>
          <p:nvPr/>
        </p:nvSpPr>
        <p:spPr>
          <a:xfrm>
            <a:off x="6200875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5438700" y="1973025"/>
            <a:ext cx="31242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62" name="Google Shape;262;p48"/>
          <p:cNvSpPr txBox="1"/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63" name="Google Shape;263;p48"/>
          <p:cNvSpPr/>
          <p:nvPr/>
        </p:nvSpPr>
        <p:spPr>
          <a:xfrm>
            <a:off x="8318280" y="5018272"/>
            <a:ext cx="825726" cy="12523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6473454" y="5018272"/>
            <a:ext cx="1685830" cy="12523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/>
          <p:nvPr/>
        </p:nvSpPr>
        <p:spPr>
          <a:xfrm>
            <a:off x="6031569" y="4810127"/>
            <a:ext cx="2520459" cy="125875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8"/>
          <p:cNvSpPr/>
          <p:nvPr/>
        </p:nvSpPr>
        <p:spPr>
          <a:xfrm>
            <a:off x="5564744" y="4810127"/>
            <a:ext cx="285486" cy="125875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9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9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9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9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9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9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9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9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9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1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1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3" name="Google Shape;283;p51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51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5" name="Google Shape;285;p51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1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7" name="Google Shape;287;p51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9" name="Google Shape;289;p51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1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1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4" name="Google Shape;294;p51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1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8" name="Google Shape;298;p52"/>
          <p:cNvSpPr txBox="1"/>
          <p:nvPr>
            <p:ph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300" name="Google Shape;300;p52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2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2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3"/>
          <p:cNvSpPr txBox="1"/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6" name="Google Shape;306;p53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3"/>
          <p:cNvSpPr txBox="1"/>
          <p:nvPr>
            <p:ph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8" name="Google Shape;308;p53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3"/>
          <p:cNvSpPr txBox="1"/>
          <p:nvPr>
            <p:ph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0" name="Google Shape;310;p53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3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3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3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3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3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3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3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3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8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8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38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38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8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8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5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5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5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5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5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55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5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5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5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5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i="0" sz="2800" u="none" cap="none" strike="noStrik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21" name="Google Shape;321;p3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en" sz="5600"/>
              <a:t>ARA0110</a:t>
            </a:r>
            <a:endParaRPr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en" sz="5600"/>
              <a:t>PADRÕES DE PROJETO</a:t>
            </a:r>
            <a:endParaRPr/>
          </a:p>
        </p:txBody>
      </p:sp>
      <p:sp>
        <p:nvSpPr>
          <p:cNvPr id="356" name="Google Shape;356;p1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Aula 13: Especificações Java - Parte 2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0a6dd2528c_0_4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COMPLEXIDADE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4e1f42adb_0_4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 especificação JEE trouxe uma grande revolução na construção de aplicações corporativas Java, o que proporcionou boa parte da popularidade que a plataforma possui. No entanto, usar JEE não é um trabalho simples, visto que há diversas complexidades que o desenvolvedor ainda precisa tocar quando se trabalha em um projeto que usa tal especificação.</a:t>
            </a:r>
            <a:endParaRPr/>
          </a:p>
        </p:txBody>
      </p:sp>
      <p:sp>
        <p:nvSpPr>
          <p:cNvPr id="367" name="Google Shape;367;g3e4e1f42adb_0_4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COMPLEXIDADE</a:t>
            </a:r>
            <a:endParaRPr/>
          </a:p>
        </p:txBody>
      </p:sp>
      <p:sp>
        <p:nvSpPr>
          <p:cNvPr id="368" name="Google Shape;368;g3e4e1f42adb_0_4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e4e1f42adb_0_4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e4e1f42adb_0_4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g3e4e1f42adb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225" y="1672125"/>
            <a:ext cx="2279950" cy="227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4e1f42adb_0_1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COMPLEXIDADE</a:t>
            </a:r>
            <a:endParaRPr/>
          </a:p>
        </p:txBody>
      </p:sp>
      <p:sp>
        <p:nvSpPr>
          <p:cNvPr id="377" name="Google Shape;377;g3e4e1f42adb_0_12"/>
          <p:cNvSpPr/>
          <p:nvPr/>
        </p:nvSpPr>
        <p:spPr>
          <a:xfrm>
            <a:off x="1836650" y="2082600"/>
            <a:ext cx="1519500" cy="978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naheim"/>
                <a:ea typeface="Anaheim"/>
                <a:cs typeface="Anaheim"/>
                <a:sym typeface="Anaheim"/>
              </a:rPr>
              <a:t>Arquitetura multicamadas</a:t>
            </a:r>
            <a:endParaRPr b="1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78" name="Google Shape;378;g3e4e1f42adb_0_12"/>
          <p:cNvSpPr/>
          <p:nvPr/>
        </p:nvSpPr>
        <p:spPr>
          <a:xfrm>
            <a:off x="3812250" y="2082600"/>
            <a:ext cx="1519500" cy="978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naheim"/>
                <a:ea typeface="Anaheim"/>
                <a:cs typeface="Anaheim"/>
                <a:sym typeface="Anaheim"/>
              </a:rPr>
              <a:t>Excesso de configuração</a:t>
            </a:r>
            <a:endParaRPr b="1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79" name="Google Shape;379;g3e4e1f42adb_0_12"/>
          <p:cNvSpPr/>
          <p:nvPr/>
        </p:nvSpPr>
        <p:spPr>
          <a:xfrm>
            <a:off x="5787850" y="2082600"/>
            <a:ext cx="1519500" cy="978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naheim"/>
                <a:ea typeface="Anaheim"/>
                <a:cs typeface="Anaheim"/>
                <a:sym typeface="Anaheim"/>
              </a:rPr>
              <a:t>Ciclo de vida de objetos</a:t>
            </a:r>
            <a:endParaRPr b="1"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4e1f42adb_0_19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Nesse cenário, um novo projeto adentrou no mercado como uma alternativa direta e leve à extrema complexidade do JEE, focando na produtividade do desenvolvedor. Assim, no início dos anos 2000, foi lançado o </a:t>
            </a:r>
            <a:r>
              <a:rPr b="1" lang="en"/>
              <a:t>Spring Framework</a:t>
            </a:r>
            <a:r>
              <a:rPr lang="en"/>
              <a:t>, um projeto de framework de aplicações de código aberto com filosofias claras de infraestrutura moderna, contêineres de aplicação bem formados e abstrações de alto nível.</a:t>
            </a:r>
            <a:endParaRPr/>
          </a:p>
        </p:txBody>
      </p:sp>
      <p:sp>
        <p:nvSpPr>
          <p:cNvPr id="385" name="Google Shape;385;g3e4e1f42adb_0_19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SPRING</a:t>
            </a:r>
            <a:endParaRPr/>
          </a:p>
        </p:txBody>
      </p:sp>
      <p:sp>
        <p:nvSpPr>
          <p:cNvPr id="386" name="Google Shape;386;g3e4e1f42adb_0_19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e4e1f42adb_0_19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e4e1f42adb_0_19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g3e4e1f42adb_0_19"/>
          <p:cNvPicPr preferRelativeResize="0"/>
          <p:nvPr/>
        </p:nvPicPr>
        <p:blipFill rotWithShape="1">
          <a:blip r:embed="rId3">
            <a:alphaModFix/>
          </a:blip>
          <a:srcRect b="32980" l="20225" r="20568" t="33788"/>
          <a:stretch/>
        </p:blipFill>
        <p:spPr>
          <a:xfrm>
            <a:off x="0" y="2359666"/>
            <a:ext cx="3224400" cy="904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4e1f42adb_0_2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OBJETIVOS</a:t>
            </a:r>
            <a:endParaRPr/>
          </a:p>
        </p:txBody>
      </p:sp>
      <p:pic>
        <p:nvPicPr>
          <p:cNvPr id="395" name="Google Shape;395;g3e4e1f42adb_0_27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6" name="Google Shape;396;g3e4e1f42adb_0_27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397" name="Google Shape;397;g3e4e1f42adb_0_27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3e4e1f42adb_0_27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3e4e1f42adb_0_27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e4e1f42adb_0_27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3e4e1f42adb_0_27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g3e4e1f42adb_0_27"/>
          <p:cNvSpPr txBox="1"/>
          <p:nvPr/>
        </p:nvSpPr>
        <p:spPr>
          <a:xfrm>
            <a:off x="1956600" y="1137614"/>
            <a:ext cx="7040700" cy="30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Substituição dos EJBs Pesados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Substituiu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os complexos Enterprise JavaBeans (EJB) por objetos Java simples (POJO)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Inversão de Controle (IoC)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Introduziu a Injeção de Dependências para desacoplar o código e facilitar testes unitários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Redução de Código Boilerplate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Eliminou os excessivos arquivos XML e códigos repetitivos de conexão com bancos de dados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Foco no Design Ágil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Alinhou-se ao crescimento das metodologias ágeis, que exigiam entregas de software muito mais rápidas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Evolução para Microsserviços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Consolidou-se anos depois com o Spring Boot, ideal para arquitetura de microsserviços em nuvem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53300b8278_0_19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PROJETO</a:t>
            </a:r>
            <a:endParaRPr/>
          </a:p>
        </p:txBody>
      </p:sp>
      <p:pic>
        <p:nvPicPr>
          <p:cNvPr id="408" name="Google Shape;408;g253300b8278_0_1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500" y="1738500"/>
            <a:ext cx="6480999" cy="32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253300b8278_0_193"/>
          <p:cNvSpPr txBox="1"/>
          <p:nvPr/>
        </p:nvSpPr>
        <p:spPr>
          <a:xfrm>
            <a:off x="3712350" y="1127100"/>
            <a:ext cx="1719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https://spring.io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4e1f42adb_0_39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Com o passar do tempo, o projeto cresceu para atender diferentes necessidades de desenvolvimento moderno. Isso fez com que o Spring Framework começasse a assumir uma roupagem modularizada, onde cada projeto específico pode ser adicionado conforme a necessidade das aplicações.</a:t>
            </a:r>
            <a:endParaRPr/>
          </a:p>
        </p:txBody>
      </p:sp>
      <p:sp>
        <p:nvSpPr>
          <p:cNvPr id="415" name="Google Shape;415;g3e4e1f42adb_0_39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CRESCIMENTO</a:t>
            </a:r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4e1f42adb_0_4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PROJETOS</a:t>
            </a:r>
            <a:endParaRPr/>
          </a:p>
        </p:txBody>
      </p:sp>
      <p:pic>
        <p:nvPicPr>
          <p:cNvPr id="421" name="Google Shape;421;g3e4e1f42adb_0_44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g3e4e1f42adb_0_44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423" name="Google Shape;423;g3e4e1f42adb_0_44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g3e4e1f42adb_0_44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3e4e1f42adb_0_44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3e4e1f42adb_0_44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3e4e1f42adb_0_44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g3e4e1f42adb_0_44"/>
          <p:cNvSpPr txBox="1"/>
          <p:nvPr/>
        </p:nvSpPr>
        <p:spPr>
          <a:xfrm>
            <a:off x="1956600" y="1012200"/>
            <a:ext cx="7040700" cy="3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Spring Framework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Núcleo do projeto com injeção de dependência, gestão de transações, aplicativos web e mais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Spring Data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Projeto de acesso consistente a bases de dados (relacionais e não relacionais)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Spring Boot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Facilita a criação de aplicações com servidores embutidos e configurações pré-definidas de ferramentas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Spring Cloud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Provê ferramentas de desenvolvimento para aplicações nativas em nuvem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Spring Security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Provê componentes de autenticação e autorização de aplicações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Spring AI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Provê integração com modelos de IA em aplicações Java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-"/>
            </a:pPr>
            <a:r>
              <a:rPr b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Spring AMQP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Integração com serviços de mensageria com o protocolo AMQP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4e1f42adb_0_64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Para iniciar um novo projeto usando Spring Boot, podemos usar o site de configuração visual ofertado pelo projeto Spring, onde podemos configurar projetos e bibliotecas necessárias para a aplicação: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https://start.spring.io</a:t>
            </a:r>
            <a:endParaRPr/>
          </a:p>
        </p:txBody>
      </p:sp>
      <p:sp>
        <p:nvSpPr>
          <p:cNvPr id="434" name="Google Shape;434;g3e4e1f42adb_0_64"/>
          <p:cNvSpPr txBox="1"/>
          <p:nvPr>
            <p:ph type="title"/>
          </p:nvPr>
        </p:nvSpPr>
        <p:spPr>
          <a:xfrm>
            <a:off x="4401425" y="1323800"/>
            <a:ext cx="42177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SPRING INITIALIZR</a:t>
            </a:r>
            <a:endParaRPr/>
          </a:p>
        </p:txBody>
      </p:sp>
      <p:sp>
        <p:nvSpPr>
          <p:cNvPr id="435" name="Google Shape;435;g3e4e1f42adb_0_64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e4e1f42adb_0_64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e4e1f42adb_0_64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g3e4e1f42adb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15213"/>
            <a:ext cx="3224400" cy="21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4e1f42adb_0_5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SPRING INITIALIZR</a:t>
            </a:r>
            <a:endParaRPr/>
          </a:p>
        </p:txBody>
      </p:sp>
      <p:pic>
        <p:nvPicPr>
          <p:cNvPr id="444" name="Google Shape;444;g3e4e1f42adb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270" y="1012200"/>
            <a:ext cx="6985460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e4e1f42adb_0_7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CRIAÇÃO DO PROJETO</a:t>
            </a:r>
            <a:endParaRPr/>
          </a:p>
        </p:txBody>
      </p:sp>
      <p:pic>
        <p:nvPicPr>
          <p:cNvPr id="450" name="Google Shape;450;g3e4e1f42adb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599" y="1012200"/>
            <a:ext cx="6626802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4e1f42adb_0_8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CRIAÇÃO DO PROJETO</a:t>
            </a:r>
            <a:endParaRPr/>
          </a:p>
        </p:txBody>
      </p:sp>
      <p:pic>
        <p:nvPicPr>
          <p:cNvPr id="456" name="Google Shape;456;g3e4e1f42adb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862" y="1012200"/>
            <a:ext cx="6078277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e4e1f42adb_0_9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CRIAÇÃO DO PROJETO</a:t>
            </a:r>
            <a:endParaRPr/>
          </a:p>
        </p:txBody>
      </p:sp>
      <p:pic>
        <p:nvPicPr>
          <p:cNvPr id="462" name="Google Shape;462;g3e4e1f42adb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012202"/>
            <a:ext cx="45720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g3e4e1f42adb_0_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50" y="1926610"/>
            <a:ext cx="4572002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g3e4e1f42adb_0_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0" y="2840990"/>
            <a:ext cx="4572002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g3e4e1f42adb_0_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6050" y="3755394"/>
            <a:ext cx="45720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4e1f42adb_0_9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CRIAÇÃO DO PROJETO</a:t>
            </a:r>
            <a:endParaRPr/>
          </a:p>
        </p:txBody>
      </p:sp>
      <p:pic>
        <p:nvPicPr>
          <p:cNvPr id="471" name="Google Shape;471;g3e4e1f42adb_0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4617" y="1012200"/>
            <a:ext cx="4854766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4e1f42adb_0_108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Após terminarmos a configuração do projeto, clicamos no botão “Generate”. O Spring Initializr vai gerar um projeto pré-configurado com as dependências escolhidas, e vai retornar esse projeto em um pacote ZIP, que pode ser extraído e estará pronto para execução e início do desenvolvimento.</a:t>
            </a:r>
            <a:endParaRPr/>
          </a:p>
        </p:txBody>
      </p:sp>
      <p:sp>
        <p:nvSpPr>
          <p:cNvPr id="477" name="Google Shape;477;g3e4e1f42adb_0_108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CRIAÇÃO DO PROJETO</a:t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4e1f42adb_0_11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CRIAÇÃO DO PROJETO</a:t>
            </a:r>
            <a:endParaRPr/>
          </a:p>
        </p:txBody>
      </p:sp>
      <p:pic>
        <p:nvPicPr>
          <p:cNvPr id="483" name="Google Shape;483;g3e4e1f42adb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516" y="1012200"/>
            <a:ext cx="6544967" cy="382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g3e4e1f42adb_0_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4670" y="1656925"/>
            <a:ext cx="3591275" cy="305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4e1f42adb_0_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COMPONENTES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50257ca9a_0_4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 Spring Framework trabalha com uma premissa de </a:t>
            </a:r>
            <a:r>
              <a:rPr b="1" lang="en"/>
              <a:t>Convenção sobre Configuração</a:t>
            </a:r>
            <a:r>
              <a:rPr lang="en"/>
              <a:t>. Isso significa que os componentes incorporados aos projetos já chegam previamente configurados com um cenário padrão de utilização. Quando há a necessidade de alguma configuração específica, isso pode ser feito através do arquivo “application.properties”, que gerencia sua execução diretamente no container de aplicação Spring.</a:t>
            </a:r>
            <a:endParaRPr/>
          </a:p>
        </p:txBody>
      </p:sp>
      <p:sp>
        <p:nvSpPr>
          <p:cNvPr id="495" name="Google Shape;495;g3e50257ca9a_0_4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CONFIGURAÇÃO</a:t>
            </a:r>
            <a:endParaRPr/>
          </a:p>
        </p:txBody>
      </p:sp>
      <p:sp>
        <p:nvSpPr>
          <p:cNvPr id="496" name="Google Shape;496;g3e50257ca9a_0_4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e50257ca9a_0_4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e50257ca9a_0_4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g3e50257ca9a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17" y="1568514"/>
            <a:ext cx="2461775" cy="2487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50257ca9a_0_1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APPLICATION.PROPERTIES</a:t>
            </a:r>
            <a:endParaRPr/>
          </a:p>
        </p:txBody>
      </p:sp>
      <p:sp>
        <p:nvSpPr>
          <p:cNvPr id="505" name="Google Shape;505;g3e50257ca9a_0_13"/>
          <p:cNvSpPr txBox="1"/>
          <p:nvPr/>
        </p:nvSpPr>
        <p:spPr>
          <a:xfrm>
            <a:off x="1496250" y="1582350"/>
            <a:ext cx="61515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spring.datasource.driver-class-name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com.mysql.jdbc.Driver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spring.datasource.url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jdbc:mysql://localhost:3306/catalogo_produtos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spring.datasource.username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spring.datasource.password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admin@2026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spring.jpa.show-sql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spring.jpa.format-sql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spring.jpa.properties.hibernate.dialect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org.hibernate.dialect.MySQLDialect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spring.jpa.properties.hibernate.hbm2ddl.auto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50257ca9a_0_20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Além do arquivo de propriedades, temos configurações que são feitas a partir de anotações disponibilizadas pelo ecossistema Spring. Podemos usar anotações para configurar controllers HTTP, componentes de tipos específicos (serviços, repositórios etc) entre outras configurações.</a:t>
            </a:r>
            <a:endParaRPr/>
          </a:p>
        </p:txBody>
      </p:sp>
      <p:sp>
        <p:nvSpPr>
          <p:cNvPr id="511" name="Google Shape;511;g3e50257ca9a_0_20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ANOTAÇÕES</a:t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e50257ca9a_0_2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ANOTAÇÕES</a:t>
            </a:r>
            <a:endParaRPr/>
          </a:p>
        </p:txBody>
      </p:sp>
      <p:sp>
        <p:nvSpPr>
          <p:cNvPr id="517" name="Google Shape;517;g3e50257ca9a_0_25"/>
          <p:cNvSpPr txBox="1"/>
          <p:nvPr/>
        </p:nvSpPr>
        <p:spPr>
          <a:xfrm>
            <a:off x="1595850" y="1358428"/>
            <a:ext cx="5952300" cy="27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package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estacio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amazonas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catalogoprodutos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org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springframework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boot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SpringApplication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org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springframework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boot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autoconfigure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SpringBootApplication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SpringBootApplication</a:t>
            </a:r>
            <a:endParaRPr i="1" sz="1050">
              <a:solidFill>
                <a:srgbClr val="66D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CatalogoProdutosApplication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[] </a:t>
            </a:r>
            <a:r>
              <a:rPr i="1" lang="en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SpringApplication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CatalogoProdutosApplication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66D9E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e50257ca9a_0_31"/>
          <p:cNvSpPr txBox="1"/>
          <p:nvPr>
            <p:ph idx="1" type="body"/>
          </p:nvPr>
        </p:nvSpPr>
        <p:spPr>
          <a:xfrm>
            <a:off x="4401425" y="1997200"/>
            <a:ext cx="4187100" cy="28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 padrão de arquitetura MVC prega que tenhamos camadas com responsabilidades específicas e dedicadas na orquestração da aplicação: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/>
              <a:t>Modelo (M)</a:t>
            </a:r>
            <a:r>
              <a:rPr lang="en"/>
              <a:t>: Camada que concentra regras de negócio e acesso a dados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/>
              <a:t>Visão (V)</a:t>
            </a:r>
            <a:r>
              <a:rPr lang="en"/>
              <a:t>: Camada de visualização e interação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/>
              <a:t>Controlador </a:t>
            </a:r>
            <a:r>
              <a:rPr b="1" lang="en"/>
              <a:t>(C)</a:t>
            </a:r>
            <a:r>
              <a:rPr lang="en"/>
              <a:t>: Camada que coordena a interação entre modelo e visão</a:t>
            </a:r>
            <a:endParaRPr/>
          </a:p>
        </p:txBody>
      </p:sp>
      <p:sp>
        <p:nvSpPr>
          <p:cNvPr id="523" name="Google Shape;523;g3e50257ca9a_0_31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ARQUITETURA MVC</a:t>
            </a:r>
            <a:endParaRPr/>
          </a:p>
        </p:txBody>
      </p:sp>
      <p:sp>
        <p:nvSpPr>
          <p:cNvPr id="524" name="Google Shape;524;g3e50257ca9a_0_31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e50257ca9a_0_31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e50257ca9a_0_31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7" name="Google Shape;527;g3e50257ca9a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37313"/>
            <a:ext cx="3224399" cy="2149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e4e1f42adb_0_7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ARQUITETURA MVC</a:t>
            </a:r>
            <a:endParaRPr/>
          </a:p>
        </p:txBody>
      </p:sp>
      <p:pic>
        <p:nvPicPr>
          <p:cNvPr id="533" name="Google Shape;533;g3e4e1f42adb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3761" y="1012200"/>
            <a:ext cx="3076478" cy="382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e50257ca9a_0_4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SPRING MVC</a:t>
            </a:r>
            <a:endParaRPr/>
          </a:p>
        </p:txBody>
      </p:sp>
      <p:pic>
        <p:nvPicPr>
          <p:cNvPr id="539" name="Google Shape;539;g3e50257ca9a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3761" y="1012200"/>
            <a:ext cx="3076478" cy="3826499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g3e50257ca9a_0_46"/>
          <p:cNvSpPr txBox="1"/>
          <p:nvPr/>
        </p:nvSpPr>
        <p:spPr>
          <a:xfrm>
            <a:off x="1185825" y="3050325"/>
            <a:ext cx="11415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Thymeleaf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41" name="Google Shape;541;g3e50257ca9a_0_46"/>
          <p:cNvSpPr txBox="1"/>
          <p:nvPr/>
        </p:nvSpPr>
        <p:spPr>
          <a:xfrm>
            <a:off x="6629450" y="2181150"/>
            <a:ext cx="12366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Spring Web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42" name="Google Shape;542;g3e50257ca9a_0_46"/>
          <p:cNvSpPr txBox="1"/>
          <p:nvPr/>
        </p:nvSpPr>
        <p:spPr>
          <a:xfrm>
            <a:off x="6629450" y="3150784"/>
            <a:ext cx="17037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Spring Data JPA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cxnSp>
        <p:nvCxnSpPr>
          <p:cNvPr id="543" name="Google Shape;543;g3e50257ca9a_0_46"/>
          <p:cNvCxnSpPr>
            <a:stCxn id="542" idx="1"/>
          </p:cNvCxnSpPr>
          <p:nvPr/>
        </p:nvCxnSpPr>
        <p:spPr>
          <a:xfrm rot="10800000">
            <a:off x="5632550" y="3394384"/>
            <a:ext cx="996900" cy="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g3e50257ca9a_0_46"/>
          <p:cNvCxnSpPr>
            <a:stCxn id="541" idx="1"/>
          </p:cNvCxnSpPr>
          <p:nvPr/>
        </p:nvCxnSpPr>
        <p:spPr>
          <a:xfrm flipH="1">
            <a:off x="5565950" y="2425650"/>
            <a:ext cx="1063500" cy="49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5" name="Google Shape;545;g3e50257ca9a_0_46"/>
          <p:cNvCxnSpPr>
            <a:stCxn id="540" idx="3"/>
          </p:cNvCxnSpPr>
          <p:nvPr/>
        </p:nvCxnSpPr>
        <p:spPr>
          <a:xfrm>
            <a:off x="2327325" y="3294825"/>
            <a:ext cx="1126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e50257ca9a_0_60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No Spring, definimos um controller a partir de uma classe que recebe a anotação </a:t>
            </a:r>
            <a:r>
              <a:rPr b="1" lang="en"/>
              <a:t>@Controller</a:t>
            </a:r>
            <a:r>
              <a:rPr lang="en"/>
              <a:t> (ou </a:t>
            </a:r>
            <a:r>
              <a:rPr b="1" lang="en"/>
              <a:t>@RestController</a:t>
            </a:r>
            <a:r>
              <a:rPr lang="en"/>
              <a:t>, para serviços web), e cada método deve ser capaz de atender uma requisição enviada em uma rota. Esses métodos serão atendidos mediante um método HTTP associado, tendo uma anotação para cada método.</a:t>
            </a:r>
            <a:endParaRPr/>
          </a:p>
        </p:txBody>
      </p:sp>
      <p:sp>
        <p:nvSpPr>
          <p:cNvPr id="551" name="Google Shape;551;g3e50257ca9a_0_60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CONTROLLER</a:t>
            </a:r>
            <a:endParaRPr/>
          </a:p>
        </p:txBody>
      </p:sp>
      <p:sp>
        <p:nvSpPr>
          <p:cNvPr id="552" name="Google Shape;552;g3e50257ca9a_0_60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e50257ca9a_0_6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e50257ca9a_0_6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5" name="Google Shape;555;g3e50257ca9a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50" y="1991775"/>
            <a:ext cx="3060900" cy="164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50257ca9a_0_6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CONTROLLER</a:t>
            </a:r>
            <a:endParaRPr/>
          </a:p>
        </p:txBody>
      </p:sp>
      <p:sp>
        <p:nvSpPr>
          <p:cNvPr id="561" name="Google Shape;561;g3e50257ca9a_0_69"/>
          <p:cNvSpPr txBox="1"/>
          <p:nvPr/>
        </p:nvSpPr>
        <p:spPr>
          <a:xfrm>
            <a:off x="2112600" y="1358425"/>
            <a:ext cx="4918800" cy="29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package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estacio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amazonas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catalogoprodutos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controllers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org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springframework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stereotype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org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springframework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web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bind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annotation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GetMapping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i="1" sz="1050">
              <a:solidFill>
                <a:srgbClr val="66D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HomeController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GetMapping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"/"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paginaHome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"home"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e50257ca9a_0_7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VIEW</a:t>
            </a:r>
            <a:endParaRPr/>
          </a:p>
        </p:txBody>
      </p:sp>
      <p:pic>
        <p:nvPicPr>
          <p:cNvPr id="567" name="Google Shape;567;g3e50257ca9a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479" y="1012200"/>
            <a:ext cx="7641042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e50257ca9a_0_81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Sobre a camada da especificação JPA, a equipe do Spring construiu o projeto Spring Data JPA, que serve como uma camada de abstração focada em operações feitas no banco de dados, sem dependência explícita de usar uma instância de </a:t>
            </a:r>
            <a:r>
              <a:rPr b="1" lang="en"/>
              <a:t>EntityManager</a:t>
            </a:r>
            <a:r>
              <a:rPr lang="en"/>
              <a:t> ou mapear entidades em um arquivo “persistence.xml” . Fora isso, toda a especificação JPA funciona exatamente da mesma forma em um projeto Spring.</a:t>
            </a:r>
            <a:endParaRPr/>
          </a:p>
        </p:txBody>
      </p:sp>
      <p:sp>
        <p:nvSpPr>
          <p:cNvPr id="573" name="Google Shape;573;g3e50257ca9a_0_81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SPRING DATA JPA</a:t>
            </a:r>
            <a:endParaRPr/>
          </a:p>
        </p:txBody>
      </p:sp>
      <p:sp>
        <p:nvSpPr>
          <p:cNvPr id="574" name="Google Shape;574;g3e50257ca9a_0_81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e50257ca9a_0_81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3e50257ca9a_0_81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7" name="Google Shape;577;g3e50257ca9a_0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050" y="1804738"/>
            <a:ext cx="2990300" cy="20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e50257ca9a_0_9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JPA</a:t>
            </a:r>
            <a:endParaRPr/>
          </a:p>
        </p:txBody>
      </p:sp>
      <p:pic>
        <p:nvPicPr>
          <p:cNvPr id="583" name="Google Shape;583;g3e50257ca9a_0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099" y="1012200"/>
            <a:ext cx="7365801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e50257ca9a_0_41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MODELO</a:t>
            </a:r>
            <a:endParaRPr/>
          </a:p>
        </p:txBody>
      </p:sp>
      <p:sp>
        <p:nvSpPr>
          <p:cNvPr id="589" name="Google Shape;589;g3e50257ca9a_0_410"/>
          <p:cNvSpPr txBox="1"/>
          <p:nvPr/>
        </p:nvSpPr>
        <p:spPr>
          <a:xfrm>
            <a:off x="2757450" y="1012200"/>
            <a:ext cx="3629100" cy="3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package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estacio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amazonas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catalogoprodutos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models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jakarta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persistence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jakarta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persistence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Entity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jakarta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persistence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GeneratedValue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jakarta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persistence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GenerationType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jakarta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persistence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jakarta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persistence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i="1" lang="en" sz="8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Entity</a:t>
            </a:r>
            <a:endParaRPr i="1" sz="800">
              <a:solidFill>
                <a:srgbClr val="66D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i="1" lang="en" sz="8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"produtos"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i="1" lang="en" sz="8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i="1" sz="800">
              <a:solidFill>
                <a:srgbClr val="66D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i="1" lang="en" sz="8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GeneratedValue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strategy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GenerationType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.IDENTITY)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i="1" lang="en" sz="8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id;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i="1" lang="en" sz="8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"nome"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nome;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i="1" lang="en" sz="80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0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"preco"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80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0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preco;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e50257ca9a_0_416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Os repositórios são elementos usados para abstrair o acesso a dados da camada de banco de dados para a camada de regras de negócio. O Spring possui abstrações para construção de repositórios com operações comuns como buscar, filtros específicos e persistência/remoção de registros em tabelas.</a:t>
            </a:r>
            <a:endParaRPr/>
          </a:p>
        </p:txBody>
      </p:sp>
      <p:sp>
        <p:nvSpPr>
          <p:cNvPr id="595" name="Google Shape;595;g3e50257ca9a_0_416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REPOSITÓRIOS</a:t>
            </a:r>
            <a:endParaRPr sz="2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e50257ca9a_0_42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REPOSITÓRIOS</a:t>
            </a:r>
            <a:endParaRPr/>
          </a:p>
        </p:txBody>
      </p:sp>
      <p:sp>
        <p:nvSpPr>
          <p:cNvPr id="601" name="Google Shape;601;g3e50257ca9a_0_421"/>
          <p:cNvSpPr txBox="1"/>
          <p:nvPr/>
        </p:nvSpPr>
        <p:spPr>
          <a:xfrm>
            <a:off x="1459200" y="1012200"/>
            <a:ext cx="62256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package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estacio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amazonas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catalogoprodutos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repositories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estacio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amazonas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catalogoprodutos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models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org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springframework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jpa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JpaRepository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org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springframework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stereotype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endParaRPr i="1" sz="1050">
              <a:solidFill>
                <a:srgbClr val="66D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ProdutosRepository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JpaRepository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Produto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&gt; {}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2" name="Google Shape;602;g3e50257ca9a_0_421"/>
          <p:cNvSpPr txBox="1"/>
          <p:nvPr/>
        </p:nvSpPr>
        <p:spPr>
          <a:xfrm>
            <a:off x="1713450" y="3379600"/>
            <a:ext cx="5717100" cy="15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Quando estendemos as interfaces do Spring Data JPA, ele fornece automaticamente uma implementação padrão para as operações de acesso a dados. Dessa forma, não há a necessidade de implementar uma classe para esta interface.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e50257ca9a_0_429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Uma das principais vantagens de se trabalhar com o ecossistema Spring é a capacidade de usar injeção de dependência de forma facilitada através de anotações e reflexão. Todas as instâncias de objetos são gerenciados automaticamente pelo container de contexto de execução, e quando um objeto necessita de uma instância de componente específico, o container realiza a configuração adequada e o entrega a quem pede.</a:t>
            </a:r>
            <a:endParaRPr/>
          </a:p>
        </p:txBody>
      </p:sp>
      <p:sp>
        <p:nvSpPr>
          <p:cNvPr id="608" name="Google Shape;608;g3e50257ca9a_0_429"/>
          <p:cNvSpPr txBox="1"/>
          <p:nvPr>
            <p:ph type="title"/>
          </p:nvPr>
        </p:nvSpPr>
        <p:spPr>
          <a:xfrm>
            <a:off x="3764974" y="1323800"/>
            <a:ext cx="4854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INJEÇÃO DE DEPENDÊNCIAS</a:t>
            </a:r>
            <a:endParaRPr sz="2500"/>
          </a:p>
        </p:txBody>
      </p:sp>
      <p:sp>
        <p:nvSpPr>
          <p:cNvPr id="609" name="Google Shape;609;g3e50257ca9a_0_429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e50257ca9a_0_429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3e50257ca9a_0_429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2" name="Google Shape;612;g3e50257ca9a_0_429"/>
          <p:cNvPicPr preferRelativeResize="0"/>
          <p:nvPr/>
        </p:nvPicPr>
        <p:blipFill rotWithShape="1">
          <a:blip r:embed="rId3">
            <a:alphaModFix/>
          </a:blip>
          <a:srcRect b="0" l="15111" r="13643" t="0"/>
          <a:stretch/>
        </p:blipFill>
        <p:spPr>
          <a:xfrm>
            <a:off x="0" y="1859413"/>
            <a:ext cx="3224400" cy="190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e50257ca9a_0_4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INJEÇÃO DIRETA</a:t>
            </a:r>
            <a:endParaRPr/>
          </a:p>
        </p:txBody>
      </p:sp>
      <p:sp>
        <p:nvSpPr>
          <p:cNvPr id="618" name="Google Shape;618;g3e50257ca9a_0_440"/>
          <p:cNvSpPr txBox="1"/>
          <p:nvPr/>
        </p:nvSpPr>
        <p:spPr>
          <a:xfrm>
            <a:off x="1407300" y="1234541"/>
            <a:ext cx="6329400" cy="3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package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estacio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amazonas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catalogoprodutos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services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estacio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amazonas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catalogoprodutos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repositories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ProdutosRepository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org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springframework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stereotype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Service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Service</a:t>
            </a:r>
            <a:endParaRPr i="1" sz="1050">
              <a:solidFill>
                <a:srgbClr val="66D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ProdutosService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ProdutosRepository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repository;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ProdutosService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ProdutosRepository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.repository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e50257ca9a_0_44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INJEÇÃO POR ANOTAÇÃO</a:t>
            </a:r>
            <a:endParaRPr/>
          </a:p>
        </p:txBody>
      </p:sp>
      <p:sp>
        <p:nvSpPr>
          <p:cNvPr id="624" name="Google Shape;624;g3e50257ca9a_0_446"/>
          <p:cNvSpPr txBox="1"/>
          <p:nvPr/>
        </p:nvSpPr>
        <p:spPr>
          <a:xfrm>
            <a:off x="1681050" y="1012200"/>
            <a:ext cx="5781900" cy="4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package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estacio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amazonas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catalogoprodutos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controllers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estacio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amazonas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catalogoprodutos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services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ProdutosService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org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springframework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beans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factory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annotation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Autowired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org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springframework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stereotype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org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springframework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web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bind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annotation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GetMapping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Controller</a:t>
            </a:r>
            <a:endParaRPr i="1" sz="1050">
              <a:solidFill>
                <a:srgbClr val="66D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HomeController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Autowired</a:t>
            </a:r>
            <a:endParaRPr i="1" sz="1050">
              <a:solidFill>
                <a:srgbClr val="66D9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ProdutosService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service;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GetMapping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"/"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 u="sng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paginaHome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"home/index"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20a70d3dc02_0_40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Complexidade da JEE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Projeto Spring Framewok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Módulos Spring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Spring Web MVC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Spring Data JPA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Inversão de Controle</a:t>
            </a:r>
            <a:endParaRPr/>
          </a:p>
        </p:txBody>
      </p:sp>
      <p:sp>
        <p:nvSpPr>
          <p:cNvPr id="630" name="Google Shape;630;g20a70d3dc02_0_40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RECAPITULANDO</a:t>
            </a:r>
            <a:endParaRPr/>
          </a:p>
        </p:txBody>
      </p:sp>
      <p:sp>
        <p:nvSpPr>
          <p:cNvPr id="631" name="Google Shape;631;g20a70d3dc02_0_40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20a70d3dc02_0_40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20a70d3dc02_0_40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4" name="Google Shape;634;g20a70d3dc02_0_407"/>
          <p:cNvPicPr preferRelativeResize="0"/>
          <p:nvPr/>
        </p:nvPicPr>
        <p:blipFill rotWithShape="1">
          <a:blip r:embed="rId3">
            <a:alphaModFix/>
          </a:blip>
          <a:srcRect b="7842" l="0" r="5356" t="0"/>
          <a:stretch/>
        </p:blipFill>
        <p:spPr>
          <a:xfrm>
            <a:off x="0" y="1566675"/>
            <a:ext cx="3224400" cy="259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7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OBRIGADO!</a:t>
            </a:r>
            <a:endParaRPr/>
          </a:p>
        </p:txBody>
      </p:sp>
      <p:sp>
        <p:nvSpPr>
          <p:cNvPr id="640" name="Google Shape;640;p27"/>
          <p:cNvSpPr txBox="1"/>
          <p:nvPr/>
        </p:nvSpPr>
        <p:spPr>
          <a:xfrm>
            <a:off x="288350" y="4506400"/>
            <a:ext cx="620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“</a:t>
            </a:r>
            <a:r>
              <a:rPr b="1" lang="en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TALVEZ NÃO FUNCIONE COM BURROS</a:t>
            </a:r>
            <a:r>
              <a:rPr b="1" i="0" lang="en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”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Shrek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41" name="Google Shape;641;p27"/>
          <p:cNvSpPr/>
          <p:nvPr/>
        </p:nvSpPr>
        <p:spPr>
          <a:xfrm>
            <a:off x="135950" y="1566450"/>
            <a:ext cx="2097600" cy="27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2" name="Google Shape;642;p27"/>
          <p:cNvPicPr preferRelativeResize="0"/>
          <p:nvPr/>
        </p:nvPicPr>
        <p:blipFill rotWithShape="1">
          <a:blip r:embed="rId3">
            <a:alphaModFix/>
          </a:blip>
          <a:srcRect b="13851" l="23903" r="24246" t="13895"/>
          <a:stretch/>
        </p:blipFill>
        <p:spPr>
          <a:xfrm>
            <a:off x="135950" y="1654450"/>
            <a:ext cx="2097600" cy="25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