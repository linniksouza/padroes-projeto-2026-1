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Proxima Nova"/>
      <p:regular r:id="rId49"/>
      <p:bold r:id="rId50"/>
      <p:italic r:id="rId51"/>
      <p:boldItalic r:id="rId52"/>
    </p:embeddedFont>
    <p:embeddedFont>
      <p:font typeface="Anaheim"/>
      <p:regular r:id="rId53"/>
      <p:bold r:id="rId54"/>
    </p:embeddedFont>
    <p:embeddedFont>
      <p:font typeface="Barlow Condensed ExtraBold"/>
      <p:bold r:id="rId55"/>
      <p:boldItalic r:id="rId56"/>
    </p:embeddedFont>
    <p:embeddedFont>
      <p:font typeface="Proxima Nova Semibold"/>
      <p:regular r:id="rId57"/>
      <p:bold r:id="rId58"/>
      <p:boldItalic r:id="rId59"/>
    </p:embeddedFont>
    <p:embeddedFont>
      <p:font typeface="Overpass Mono"/>
      <p:regular r:id="rId60"/>
      <p:bold r:id="rId61"/>
    </p:embeddedFont>
    <p:embeddedFont>
      <p:font typeface="Barlow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6" roundtripDataSignature="AMtx7mhcfx4YDkPQ3eG/QaaaISSKMIxY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Barlow-regular.fntdata"/><Relationship Id="rId61" Type="http://schemas.openxmlformats.org/officeDocument/2006/relationships/font" Target="fonts/OverpassMono-bold.fntdata"/><Relationship Id="rId20" Type="http://schemas.openxmlformats.org/officeDocument/2006/relationships/slide" Target="slides/slide15.xml"/><Relationship Id="rId64" Type="http://schemas.openxmlformats.org/officeDocument/2006/relationships/font" Target="fonts/Barlow-italic.fntdata"/><Relationship Id="rId63" Type="http://schemas.openxmlformats.org/officeDocument/2006/relationships/font" Target="fonts/Barlow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Barlow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verpassMon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italic.fntdata"/><Relationship Id="rId50" Type="http://schemas.openxmlformats.org/officeDocument/2006/relationships/font" Target="fonts/ProximaNova-bold.fntdata"/><Relationship Id="rId53" Type="http://schemas.openxmlformats.org/officeDocument/2006/relationships/font" Target="fonts/Anaheim-regular.fntdata"/><Relationship Id="rId52" Type="http://schemas.openxmlformats.org/officeDocument/2006/relationships/font" Target="fonts/ProximaNova-boldItalic.fntdata"/><Relationship Id="rId11" Type="http://schemas.openxmlformats.org/officeDocument/2006/relationships/slide" Target="slides/slide6.xml"/><Relationship Id="rId55" Type="http://schemas.openxmlformats.org/officeDocument/2006/relationships/font" Target="fonts/BarlowCondensedExtraBold-bold.fntdata"/><Relationship Id="rId10" Type="http://schemas.openxmlformats.org/officeDocument/2006/relationships/slide" Target="slides/slide5.xml"/><Relationship Id="rId54" Type="http://schemas.openxmlformats.org/officeDocument/2006/relationships/font" Target="fonts/Anaheim-bold.fntdata"/><Relationship Id="rId13" Type="http://schemas.openxmlformats.org/officeDocument/2006/relationships/slide" Target="slides/slide8.xml"/><Relationship Id="rId57" Type="http://schemas.openxmlformats.org/officeDocument/2006/relationships/font" Target="fonts/ProximaNovaSemibold-regular.fntdata"/><Relationship Id="rId12" Type="http://schemas.openxmlformats.org/officeDocument/2006/relationships/slide" Target="slides/slide7.xml"/><Relationship Id="rId56" Type="http://schemas.openxmlformats.org/officeDocument/2006/relationships/font" Target="fonts/BarlowCondensedExtraBold-boldItalic.fntdata"/><Relationship Id="rId15" Type="http://schemas.openxmlformats.org/officeDocument/2006/relationships/slide" Target="slides/slide10.xml"/><Relationship Id="rId59" Type="http://schemas.openxmlformats.org/officeDocument/2006/relationships/font" Target="fonts/ProximaNovaSemibold-boldItalic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4eaa47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4eaa47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4eaa47482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d4eaa4748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4eaa47482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d4eaa47482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4eaa47482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d4eaa47482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53300b827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253300b827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4eaa47482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d4eaa47482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4eaa47482_0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d4eaa47482_0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4eaa47482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d4eaa47482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4eaa47482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d4eaa47482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4eaa47482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d4eaa47482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4eaa47482_0_1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d4eaa47482_0_1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4eaa47482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d4eaa47482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4eaa47482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d4eaa47482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4eaa47482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4eaa47482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4eaa47482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d4eaa47482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4eaa47482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d4eaa47482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4eaa47482_0_1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d4eaa47482_0_1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4eaa47482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d4eaa47482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4eaa47482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d4eaa47482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4eaa47482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d4eaa47482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4eaa47482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d4eaa47482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4eaa47482_0_1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4eaa47482_0_1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4eaa47482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d4eaa47482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4eaa47482_0_1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d4eaa47482_0_1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4eaa47482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d4eaa47482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4eaa47482_0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d4eaa47482_0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4eaa47482_0_1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d4eaa47482_0_1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4eaa47482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d4eaa47482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4eaa47482_0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d4eaa47482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4eaa47482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d4eaa47482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86fc665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86fc665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6fc6657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86fc6657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86fc66578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86fc6657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6fc66578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86fc6657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6fc66578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86fc66578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86fc6657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86fc6657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6fc66578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86fc66578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6fc66578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86fc66578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6fc66578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86fc66578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0" name="Google Shape;110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pt-BR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pt-BR"/>
              <a:t>Aula 07: Padrões de projeto comportamentais - parte 2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4eaa47482_0_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RECAPITULANDO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4eaa47482_0_318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padrões de projeto comportamentais focam em algoritmos e atribuição de responsabilidades entre objetos, descrevendo padrões de comunicação entre eles.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Nesses padrões, encontramos uso intensivo de polimorfismo.</a:t>
            </a:r>
            <a:endParaRPr/>
          </a:p>
        </p:txBody>
      </p:sp>
      <p:sp>
        <p:nvSpPr>
          <p:cNvPr id="367" name="Google Shape;367;g3d4eaa47482_0_31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PADRÕES COMPORTAMENTAIS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ITERATOR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4eaa47482_0_64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Fornecer um meio de acessar, sequencialmente, os elementos de um objeto agregado sem expor a sua representação subjacente.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p.244</a:t>
            </a:r>
            <a:endParaRPr/>
          </a:p>
        </p:txBody>
      </p:sp>
      <p:sp>
        <p:nvSpPr>
          <p:cNvPr id="378" name="Google Shape;378;g3d4eaa47482_0_64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379" name="Google Shape;379;g3d4eaa47482_0_64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d4eaa47482_0_64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4eaa47482_0_64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4eaa47482_0_64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uma coleção complexa de dados na qual desejamos percorrer cada um dos itens. Para fazer isso, deveríamos conhecer a estrutura interna para saber onde a coleção começa e onde termina.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Com o padrão, contamos com um “guia especializado”: ele encapsula toda a lógica de travessia (como ir para o próximo, saber se acabou etc) em um objeto separado.</a:t>
            </a:r>
            <a:endParaRPr/>
          </a:p>
        </p:txBody>
      </p:sp>
      <p:sp>
        <p:nvSpPr>
          <p:cNvPr id="387" name="Google Shape;387;g3d4eaa47482_0_649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388" name="Google Shape;388;g3d4eaa47482_0_64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d4eaa47482_0_64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d4eaa47482_0_64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53300b8278_0_193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396" name="Google Shape;396;g253300b8278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655" y="1012200"/>
            <a:ext cx="5650691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4eaa47482_0_662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Iterator</a:t>
            </a:r>
            <a:r>
              <a:rPr lang="pt-BR"/>
              <a:t>: interface que define operações para acessar e percorrer elementos.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ConcreteIterator</a:t>
            </a:r>
            <a:r>
              <a:rPr lang="pt-BR"/>
              <a:t>: implementação das operações de acesso e percurso, mantendo posição do agregado corrente.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Aggregate</a:t>
            </a:r>
            <a:r>
              <a:rPr lang="pt-BR"/>
              <a:t>: interface que define um padrão para criação do objeto Iterator.</a:t>
            </a:r>
            <a:endParaRPr/>
          </a:p>
        </p:txBody>
      </p:sp>
      <p:sp>
        <p:nvSpPr>
          <p:cNvPr id="402" name="Google Shape;402;g3d4eaa47482_0_66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4eaa47482_0_981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ConcreteAggregate</a:t>
            </a:r>
            <a:r>
              <a:rPr lang="pt-BR"/>
              <a:t>: implementação da operação de criação de um Iterator apropriado.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interage com o agregado e o iterador de elementos.</a:t>
            </a:r>
            <a:endParaRPr/>
          </a:p>
        </p:txBody>
      </p:sp>
      <p:sp>
        <p:nvSpPr>
          <p:cNvPr id="408" name="Google Shape;408;g3d4eaa47482_0_98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4eaa47482_0_986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agregado define um padrão de criação de objetos Iterator de acordo com a dinâmica de interação com a coleção. Esse Iterator implementa e controla mecanismos para acesso e percurso de elementos, computando o objeto sucessor do percurso.</a:t>
            </a:r>
            <a:endParaRPr/>
          </a:p>
        </p:txBody>
      </p:sp>
      <p:sp>
        <p:nvSpPr>
          <p:cNvPr id="414" name="Google Shape;414;g3d4eaa47482_0_98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4eaa47482_0_1305"/>
          <p:cNvSpPr txBox="1"/>
          <p:nvPr>
            <p:ph idx="1" type="body"/>
          </p:nvPr>
        </p:nvSpPr>
        <p:spPr>
          <a:xfrm>
            <a:off x="4401425" y="1997200"/>
            <a:ext cx="4187100" cy="2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Um aplicativo de streaming de música gerencia como uma playlist é executada: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Reprodução sequencial</a:t>
            </a:r>
            <a:r>
              <a:rPr lang="pt-BR"/>
              <a:t>: Segue a ordem alfabética dos nomes das músicas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Reprodução aleatória</a:t>
            </a:r>
            <a:r>
              <a:rPr lang="pt-BR"/>
              <a:t>:  Não há uma ordem definida de reprodução, mas garante que não haja repetição de músicas na iteração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implementar esse aplicativo.</a:t>
            </a:r>
            <a:endParaRPr/>
          </a:p>
        </p:txBody>
      </p:sp>
      <p:sp>
        <p:nvSpPr>
          <p:cNvPr id="420" name="Google Shape;420;g3d4eaa47482_0_1305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21" name="Google Shape;421;g3d4eaa47482_0_1305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d4eaa47482_0_130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d4eaa47482_0_130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g3d4eaa47482_0_1305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4eaa47482_0_131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30" name="Google Shape;430;g3d4eaa47482_0_1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742" y="1012200"/>
            <a:ext cx="5816516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4eaa47482_0_1320"/>
          <p:cNvSpPr txBox="1"/>
          <p:nvPr>
            <p:ph idx="1" type="body"/>
          </p:nvPr>
        </p:nvSpPr>
        <p:spPr>
          <a:xfrm>
            <a:off x="4401425" y="1997200"/>
            <a:ext cx="41871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 Instagram ou LinkedIn, podemos ter diferentes visualizações dos seguidores que possuímos, dependendo do contexto: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Amigos próximos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Amigos na mesma cidade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Amigos em ordem alfabética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Amigos em ordem de data de amizade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implementar esse sistema.</a:t>
            </a:r>
            <a:endParaRPr/>
          </a:p>
        </p:txBody>
      </p:sp>
      <p:sp>
        <p:nvSpPr>
          <p:cNvPr id="436" name="Google Shape;436;g3d4eaa47482_0_1320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437" name="Google Shape;437;g3d4eaa47482_0_1320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d4eaa47482_0_132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d4eaa47482_0_132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d4eaa47482_0_1320"/>
          <p:cNvPicPr preferRelativeResize="0"/>
          <p:nvPr/>
        </p:nvPicPr>
        <p:blipFill rotWithShape="1">
          <a:blip r:embed="rId3">
            <a:alphaModFix/>
          </a:blip>
          <a:srcRect b="0" l="22179" r="0" t="0"/>
          <a:stretch/>
        </p:blipFill>
        <p:spPr>
          <a:xfrm>
            <a:off x="-3" y="1574988"/>
            <a:ext cx="3224401" cy="2573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4eaa47482_0_132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d4eaa47482_0_1334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Sistemas com diferentes visualizações de coleções de dados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Sistemas de acesso a objetos agregados, sem expor sua representação interna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Sistemas com diferentes estratégias de percurso para agregados de dados</a:t>
            </a:r>
            <a:endParaRPr/>
          </a:p>
        </p:txBody>
      </p:sp>
      <p:sp>
        <p:nvSpPr>
          <p:cNvPr id="451" name="Google Shape;451;g3d4eaa47482_0_133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4eaa47482_0_1339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Oferecer suporte a variações no percurso de um agregado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Iteradores simplificam a interface do agregado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Mais do que um percurso pode estar em curso em um agregado</a:t>
            </a:r>
            <a:endParaRPr/>
          </a:p>
        </p:txBody>
      </p:sp>
      <p:sp>
        <p:nvSpPr>
          <p:cNvPr id="457" name="Google Shape;457;g3d4eaa47482_0_133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4eaa47482_0_637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MEDIATOR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4eaa47482_0_1662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Definir um objeto que encapsula a forma como um conjunto de objetos interage. O Mediator promove o acoplamento fraco ao evitar que os objetos se refiram uns aos outros explicitamente e permite variar suas interações independentemente.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p.257</a:t>
            </a:r>
            <a:endParaRPr/>
          </a:p>
        </p:txBody>
      </p:sp>
      <p:sp>
        <p:nvSpPr>
          <p:cNvPr id="468" name="Google Shape;468;g3d4eaa47482_0_1662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69" name="Google Shape;469;g3d4eaa47482_0_1662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d4eaa47482_0_1662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d4eaa47482_0_1662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g3d4eaa47482_0_1662"/>
          <p:cNvPicPr preferRelativeResize="0"/>
          <p:nvPr/>
        </p:nvPicPr>
        <p:blipFill rotWithShape="1">
          <a:blip r:embed="rId3">
            <a:alphaModFix/>
          </a:blip>
          <a:srcRect b="0" l="2700" r="3562" t="0"/>
          <a:stretch/>
        </p:blipFill>
        <p:spPr>
          <a:xfrm>
            <a:off x="0" y="1522259"/>
            <a:ext cx="3224400" cy="257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4eaa47482_0_167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Imagine uma torre de controle de um aeroporto, onde os controladores mediam as interações entre pilotos para decidir pousos e decolagens. Em vez dos pilotos falarem uns com os outros, um controlador media essa interação, centralizando as decisões e coordenando o tráfego aéreo.</a:t>
            </a:r>
            <a:endParaRPr/>
          </a:p>
        </p:txBody>
      </p:sp>
      <p:sp>
        <p:nvSpPr>
          <p:cNvPr id="478" name="Google Shape;478;g3d4eaa47482_0_167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479" name="Google Shape;479;g3d4eaa47482_0_167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d4eaa47482_0_167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d4eaa47482_0_167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d4eaa47482_0_1670"/>
          <p:cNvPicPr preferRelativeResize="0"/>
          <p:nvPr/>
        </p:nvPicPr>
        <p:blipFill rotWithShape="1">
          <a:blip r:embed="rId3">
            <a:alphaModFix/>
          </a:blip>
          <a:srcRect b="0" l="2700" r="3562" t="0"/>
          <a:stretch/>
        </p:blipFill>
        <p:spPr>
          <a:xfrm>
            <a:off x="0" y="1522259"/>
            <a:ext cx="3224400" cy="257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4eaa47482_0_65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488" name="Google Shape;488;g3d4eaa47482_0_6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38" y="1012200"/>
            <a:ext cx="6000924" cy="38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4eaa47482_0_1683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Mediator</a:t>
            </a:r>
            <a:r>
              <a:rPr lang="pt-BR"/>
              <a:t>: interface que define o padrão de comunicação com objetos Colleague.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ConcreteMediator</a:t>
            </a:r>
            <a:r>
              <a:rPr lang="pt-BR"/>
              <a:t>: implementação da operação de comunicação dos objetos Colleague.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Colleague</a:t>
            </a:r>
            <a:r>
              <a:rPr lang="pt-BR"/>
              <a:t>: interface que define ponto de comunicação comum a partir do Mediator.</a:t>
            </a:r>
            <a:endParaRPr/>
          </a:p>
        </p:txBody>
      </p:sp>
      <p:sp>
        <p:nvSpPr>
          <p:cNvPr id="494" name="Google Shape;494;g3d4eaa47482_0_168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4eaa47482_0_1688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ConcreteColleagueX</a:t>
            </a:r>
            <a:r>
              <a:rPr lang="pt-BR"/>
              <a:t>: implementação de cada formato de comunicação com o Mediator, sem que haja interação direta com outro Colleague.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Cliente</a:t>
            </a:r>
            <a:r>
              <a:rPr lang="pt-BR"/>
              <a:t>: elemento que cria o padrão de comunicação e gerencia a comunicação entre os objetos Colleague.</a:t>
            </a:r>
            <a:endParaRPr/>
          </a:p>
        </p:txBody>
      </p:sp>
      <p:sp>
        <p:nvSpPr>
          <p:cNvPr id="500" name="Google Shape;500;g3d4eaa47482_0_1688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4eaa47482_0_1693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Colegas enviam e recebem solicitações de um objeto Mediator criado. O comportamento cooperativo entre os objetos colegas para solicitações e respostas é implementado por um mediador, que coordena essa comunicação entre os objetos.</a:t>
            </a:r>
            <a:endParaRPr/>
          </a:p>
        </p:txBody>
      </p:sp>
      <p:sp>
        <p:nvSpPr>
          <p:cNvPr id="506" name="Google Shape;506;g3d4eaa47482_0_1693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4eaa47482_0_1698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chat em grupo, um usuário não evna uma mensagem diretamente ao IP de cada colega presente na sala. O usuário envia a mensagem para o servidor, que ficará encarregado de entregá-la a todos os participantes da sala. Isso permite que novos usuários entrem e saiam sem ter necessidade de atualização interna nos usuários.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esse sistema.</a:t>
            </a:r>
            <a:endParaRPr/>
          </a:p>
        </p:txBody>
      </p:sp>
      <p:sp>
        <p:nvSpPr>
          <p:cNvPr id="512" name="Google Shape;512;g3d4eaa47482_0_1698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13" name="Google Shape;513;g3d4eaa47482_0_1698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d4eaa47482_0_169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d4eaa47482_0_169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g3d4eaa47482_0_1698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4eaa47482_0_1707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22" name="Google Shape;522;g3d4eaa47482_0_17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963" y="1012200"/>
            <a:ext cx="5350080" cy="39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4eaa47482_0_1713"/>
          <p:cNvSpPr txBox="1"/>
          <p:nvPr>
            <p:ph idx="1" type="body"/>
          </p:nvPr>
        </p:nvSpPr>
        <p:spPr>
          <a:xfrm>
            <a:off x="4401425" y="1997200"/>
            <a:ext cx="41871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Considere um sistema de gerenciamento de robôs em um armazém automatizado. Para evitar colisões, os robôs não podem “adivinhar” para onde o outro está indo, então se faz necessário uma central que recebe as coordenadas de todos os robôs e gerencia, por comandos, quando um robô deve parar e outro deve seguir, garantindo fluidez sem que os robôs precisem se comunicar.</a:t>
            </a:r>
            <a:endParaRPr/>
          </a:p>
        </p:txBody>
      </p:sp>
      <p:sp>
        <p:nvSpPr>
          <p:cNvPr id="528" name="Google Shape;528;g3d4eaa47482_0_1713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29" name="Google Shape;529;g3d4eaa47482_0_1713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d4eaa47482_0_1713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d4eaa47482_0_1713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g3d4eaa47482_0_1713"/>
          <p:cNvPicPr preferRelativeResize="0"/>
          <p:nvPr/>
        </p:nvPicPr>
        <p:blipFill rotWithShape="1">
          <a:blip r:embed="rId3">
            <a:alphaModFix/>
          </a:blip>
          <a:srcRect b="0" l="24517" r="0" t="0"/>
          <a:stretch/>
        </p:blipFill>
        <p:spPr>
          <a:xfrm>
            <a:off x="0" y="1596176"/>
            <a:ext cx="3224400" cy="25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4eaa47482_0_172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4eaa47482_0_1727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conjunto de objetos precisa se comunicar de forma bem definida, mas complexa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objeto se torna difícil de reutilizar quando se comunica com muitos objetos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Um comportamento está distribuído entre várias classes que deveriam ser customizáveis ou adaptáveis</a:t>
            </a:r>
            <a:endParaRPr/>
          </a:p>
        </p:txBody>
      </p:sp>
      <p:sp>
        <p:nvSpPr>
          <p:cNvPr id="543" name="Google Shape;543;g3d4eaa47482_0_1727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4eaa47482_0_1732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Limitar o uso de subclasses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Desacoplar objetos colegas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Simplificar o protocolo dos objetos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Abstrair a maneira como os objetos cooperam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Centraliza o controle, logo, a complexidade da interação</a:t>
            </a:r>
            <a:endParaRPr/>
          </a:p>
        </p:txBody>
      </p:sp>
      <p:sp>
        <p:nvSpPr>
          <p:cNvPr id="549" name="Google Shape;549;g3d4eaa47482_0_1732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4eaa47482_0_1658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pt-BR"/>
              <a:t>MEMENTO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4eaa47482_0_1741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Sem violar o encapsulamento, capturar e externalizar um estado interno de um objeto, de maneira que o objeto possa ser restaurado para esse estado mais tarde.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GoF, Padrões de Projetos. p.266</a:t>
            </a:r>
            <a:endParaRPr/>
          </a:p>
        </p:txBody>
      </p:sp>
      <p:sp>
        <p:nvSpPr>
          <p:cNvPr id="560" name="Google Shape;560;g3d4eaa47482_0_1741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561" name="Google Shape;561;g3d4eaa47482_0_1741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d4eaa47482_0_1741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d4eaa47482_0_1741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g3d4eaa47482_0_1741"/>
          <p:cNvPicPr preferRelativeResize="0"/>
          <p:nvPr/>
        </p:nvPicPr>
        <p:blipFill rotWithShape="1">
          <a:blip r:embed="rId3">
            <a:alphaModFix/>
          </a:blip>
          <a:srcRect b="0" l="6328" r="5898" t="0"/>
          <a:stretch/>
        </p:blipFill>
        <p:spPr>
          <a:xfrm>
            <a:off x="15038" y="2033050"/>
            <a:ext cx="3194325" cy="15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d4eaa47482_0_174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um editor de textos, como o Visual Studio Code, é comum recorrermos a funcionalidade de desfazer (Ctrl + Z) para voltar o código digitado a um estado anterior, em casos de erro de digitação ou mesmo utilização errada de componentes.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Dessa forma, o editor registra cada etapa do estado para que seja possível desfazer alterações e voltar a um estado anterior.</a:t>
            </a:r>
            <a:endParaRPr/>
          </a:p>
        </p:txBody>
      </p:sp>
      <p:sp>
        <p:nvSpPr>
          <p:cNvPr id="570" name="Google Shape;570;g3d4eaa47482_0_1749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571" name="Google Shape;571;g3d4eaa47482_0_174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d4eaa47482_0_174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d4eaa47482_0_174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g3d4eaa47482_0_1749"/>
          <p:cNvPicPr preferRelativeResize="0"/>
          <p:nvPr/>
        </p:nvPicPr>
        <p:blipFill rotWithShape="1">
          <a:blip r:embed="rId3">
            <a:alphaModFix/>
          </a:blip>
          <a:srcRect b="0" l="6328" r="5898" t="0"/>
          <a:stretch/>
        </p:blipFill>
        <p:spPr>
          <a:xfrm>
            <a:off x="15038" y="2033050"/>
            <a:ext cx="3194325" cy="15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86fc665788_0_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580" name="Google Shape;580;g386fc66578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6295"/>
            <a:ext cx="8839200" cy="1890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86fc665788_0_5"/>
          <p:cNvSpPr txBox="1"/>
          <p:nvPr>
            <p:ph idx="1" type="body"/>
          </p:nvPr>
        </p:nvSpPr>
        <p:spPr>
          <a:xfrm>
            <a:off x="4579525" y="2383800"/>
            <a:ext cx="39327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Memento</a:t>
            </a:r>
            <a:r>
              <a:rPr lang="pt-BR"/>
              <a:t>: classe que armazena o estado interno do objeto Originator, protegendo acesso por objetos que não sejam o originator.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Originator</a:t>
            </a:r>
            <a:r>
              <a:rPr lang="pt-BR"/>
              <a:t>: classe que cria um objeto Memento contendo seu estado interno corrente, usando o mesmo para restaurar seu estado.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/>
              <a:t>Caretaker</a:t>
            </a:r>
            <a:r>
              <a:rPr lang="pt-BR"/>
              <a:t>: elemento responsável pela custódia do Memento.</a:t>
            </a:r>
            <a:endParaRPr/>
          </a:p>
        </p:txBody>
      </p:sp>
      <p:sp>
        <p:nvSpPr>
          <p:cNvPr id="586" name="Google Shape;586;g386fc665788_0_5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PARTICIPANTES</a:t>
            </a:r>
            <a:endParaRPr sz="2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86fc665788_0_10"/>
          <p:cNvSpPr txBox="1"/>
          <p:nvPr>
            <p:ph idx="1" type="body"/>
          </p:nvPr>
        </p:nvSpPr>
        <p:spPr>
          <a:xfrm>
            <a:off x="4579525" y="2540600"/>
            <a:ext cx="39327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caretaker solicita um memento de um originador, mantém o mesmo por um certo tempo e o devolve para o originador.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objetos memento são passivos, ou seja, somente o originador que criou o memento será capaz de atribuir ou recuperar o seu estado.</a:t>
            </a:r>
            <a:endParaRPr/>
          </a:p>
        </p:txBody>
      </p:sp>
      <p:sp>
        <p:nvSpPr>
          <p:cNvPr id="592" name="Google Shape;592;g386fc665788_0_10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UTILIZAÇÃO</a:t>
            </a:r>
            <a:endParaRPr sz="2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6fc665788_0_15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jogos, é muito comum salvar o seu progresso ou o jogo criar um checkpoint em diferentes estágios, para salvar o progresso do jogador.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Vamos implementar um sistema de registro de progresso em um jogo.</a:t>
            </a:r>
            <a:endParaRPr/>
          </a:p>
        </p:txBody>
      </p:sp>
      <p:sp>
        <p:nvSpPr>
          <p:cNvPr id="598" name="Google Shape;598;g386fc665788_0_15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599" name="Google Shape;599;g386fc665788_0_15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86fc665788_0_1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86fc665788_0_1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2" name="Google Shape;602;g386fc665788_0_15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86fc665788_0_2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</a:t>
            </a:r>
            <a:endParaRPr/>
          </a:p>
        </p:txBody>
      </p:sp>
      <p:pic>
        <p:nvPicPr>
          <p:cNvPr id="608" name="Google Shape;608;g386fc665788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6779"/>
            <a:ext cx="8839201" cy="1949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86fc665788_0_30"/>
          <p:cNvSpPr txBox="1"/>
          <p:nvPr>
            <p:ph idx="1" type="body"/>
          </p:nvPr>
        </p:nvSpPr>
        <p:spPr>
          <a:xfrm>
            <a:off x="4401425" y="1997200"/>
            <a:ext cx="41871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Em sistemas de bancos de dados, cada operação que manipule um registro (criação, alteração ou remoção) é gerenciado através de uma transação. Dessa forma, se ocorrer algum problema durante o processo, o estado atual do registro pode ser restaurado através de um rollback.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Implemente um sistema de gestão de transações de banco de dados.</a:t>
            </a:r>
            <a:endParaRPr/>
          </a:p>
        </p:txBody>
      </p:sp>
      <p:sp>
        <p:nvSpPr>
          <p:cNvPr id="614" name="Google Shape;614;g386fc665788_0_30"/>
          <p:cNvSpPr txBox="1"/>
          <p:nvPr>
            <p:ph type="title"/>
          </p:nvPr>
        </p:nvSpPr>
        <p:spPr>
          <a:xfrm>
            <a:off x="4431925" y="1323800"/>
            <a:ext cx="418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HORA DE EXERCÍCIO</a:t>
            </a:r>
            <a:endParaRPr/>
          </a:p>
        </p:txBody>
      </p:sp>
      <p:sp>
        <p:nvSpPr>
          <p:cNvPr id="615" name="Google Shape;615;g386fc665788_0_30"/>
          <p:cNvSpPr/>
          <p:nvPr/>
        </p:nvSpPr>
        <p:spPr>
          <a:xfrm>
            <a:off x="0" y="1476225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86fc665788_0_3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86fc665788_0_3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g386fc665788_0_30"/>
          <p:cNvPicPr preferRelativeResize="0"/>
          <p:nvPr/>
        </p:nvPicPr>
        <p:blipFill rotWithShape="1">
          <a:blip r:embed="rId3">
            <a:alphaModFix/>
          </a:blip>
          <a:srcRect b="0" l="8323" r="11728" t="0"/>
          <a:stretch/>
        </p:blipFill>
        <p:spPr>
          <a:xfrm>
            <a:off x="0" y="1614502"/>
            <a:ext cx="3224401" cy="2494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86fc665788_0_3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DIAGRAMA?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86fc665788_0_44"/>
          <p:cNvSpPr txBox="1"/>
          <p:nvPr>
            <p:ph idx="1" type="body"/>
          </p:nvPr>
        </p:nvSpPr>
        <p:spPr>
          <a:xfrm>
            <a:off x="4579525" y="2540600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Gerar um instantâneo de todo ou parte do estado de um objeto a ser salvo de modo que ele possa ser restaurado mais tarde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Usar uma interface para obtenção do estado sem expor a estrutura interna do objeto, evitando romper encapsulamento</a:t>
            </a:r>
            <a:endParaRPr/>
          </a:p>
        </p:txBody>
      </p:sp>
      <p:sp>
        <p:nvSpPr>
          <p:cNvPr id="629" name="Google Shape;629;g386fc665788_0_44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APLICABILIDADE</a:t>
            </a:r>
            <a:endParaRPr sz="2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86fc665788_0_49"/>
          <p:cNvSpPr txBox="1"/>
          <p:nvPr>
            <p:ph idx="1" type="body"/>
          </p:nvPr>
        </p:nvSpPr>
        <p:spPr>
          <a:xfrm>
            <a:off x="4579525" y="2476484"/>
            <a:ext cx="3932700" cy="23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Preservação das fronteiras do encapsulamento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Simplificar o Originator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Definir interfaces mínimas e amplas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O uso de mementos pode ser computacionalmente caro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pt-BR"/>
              <a:t>Custos ocultos na custódia de mementos</a:t>
            </a:r>
            <a:endParaRPr/>
          </a:p>
        </p:txBody>
      </p:sp>
      <p:sp>
        <p:nvSpPr>
          <p:cNvPr id="635" name="Google Shape;635;g386fc665788_0_4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sz="2500"/>
              <a:t>CONSEQUÊNCIAS</a:t>
            </a:r>
            <a:endParaRPr sz="2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Padrões de projeto comportamentais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Iterator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Mediator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Memento</a:t>
            </a:r>
            <a:endParaRPr/>
          </a:p>
        </p:txBody>
      </p:sp>
      <p:sp>
        <p:nvSpPr>
          <p:cNvPr id="641" name="Google Shape;641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RECAPITULANDO</a:t>
            </a:r>
            <a:endParaRPr/>
          </a:p>
        </p:txBody>
      </p:sp>
      <p:sp>
        <p:nvSpPr>
          <p:cNvPr id="642" name="Google Shape;642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/>
              <a:t>OBRIGADO!</a:t>
            </a:r>
            <a:endParaRPr/>
          </a:p>
        </p:txBody>
      </p:sp>
      <p:sp>
        <p:nvSpPr>
          <p:cNvPr id="651" name="Google Shape;651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AGORA O VILGAX VAI SENTIR O GOSTO DO GRANDÃO!</a:t>
            </a:r>
            <a:r>
              <a:rPr b="1" i="0" lang="pt-BR" sz="16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”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Ben Tennyson, a.k.a Ben 10</a:t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3" name="Google Shape;653;p27"/>
          <p:cNvPicPr preferRelativeResize="0"/>
          <p:nvPr/>
        </p:nvPicPr>
        <p:blipFill rotWithShape="1">
          <a:blip r:embed="rId3">
            <a:alphaModFix/>
          </a:blip>
          <a:srcRect b="24356" l="0" r="0" t="24010"/>
          <a:stretch/>
        </p:blipFill>
        <p:spPr>
          <a:xfrm>
            <a:off x="166200" y="1566450"/>
            <a:ext cx="20371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