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Proxima Nova"/>
      <p:regular r:id="rId50"/>
      <p:bold r:id="rId51"/>
      <p:italic r:id="rId52"/>
      <p:boldItalic r:id="rId53"/>
    </p:embeddedFont>
    <p:embeddedFont>
      <p:font typeface="Anaheim"/>
      <p:regular r:id="rId54"/>
      <p:bold r:id="rId55"/>
    </p:embeddedFont>
    <p:embeddedFont>
      <p:font typeface="Barlow Condensed ExtraBold"/>
      <p:bold r:id="rId56"/>
      <p:boldItalic r:id="rId57"/>
    </p:embeddedFont>
    <p:embeddedFont>
      <p:font typeface="Proxima Nova Semibold"/>
      <p:regular r:id="rId58"/>
      <p:bold r:id="rId59"/>
      <p:boldItalic r:id="rId60"/>
    </p:embeddedFont>
    <p:embeddedFont>
      <p:font typeface="Overpass Mono"/>
      <p:regular r:id="rId61"/>
      <p:bold r:id="rId62"/>
    </p:embeddedFont>
    <p:embeddedFont>
      <p:font typeface="Barlow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7" roundtripDataSignature="AMtx7mh23YA4iIn3So6HZjMKv4e0TEjz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verpassMono-bold.fntdata"/><Relationship Id="rId61" Type="http://schemas.openxmlformats.org/officeDocument/2006/relationships/font" Target="fonts/OverpassMono-regular.fntdata"/><Relationship Id="rId20" Type="http://schemas.openxmlformats.org/officeDocument/2006/relationships/slide" Target="slides/slide15.xml"/><Relationship Id="rId64" Type="http://schemas.openxmlformats.org/officeDocument/2006/relationships/font" Target="fonts/Barlow-bold.fntdata"/><Relationship Id="rId63" Type="http://schemas.openxmlformats.org/officeDocument/2006/relationships/font" Target="fonts/Barlow-regular.fntdata"/><Relationship Id="rId22" Type="http://schemas.openxmlformats.org/officeDocument/2006/relationships/slide" Target="slides/slide17.xml"/><Relationship Id="rId66" Type="http://schemas.openxmlformats.org/officeDocument/2006/relationships/font" Target="fonts/Barlow-boldItalic.fntdata"/><Relationship Id="rId21" Type="http://schemas.openxmlformats.org/officeDocument/2006/relationships/slide" Target="slides/slide16.xml"/><Relationship Id="rId65" Type="http://schemas.openxmlformats.org/officeDocument/2006/relationships/font" Target="fonts/Barlow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font" Target="fonts/ProximaNovaSemibold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-bold.fntdata"/><Relationship Id="rId50" Type="http://schemas.openxmlformats.org/officeDocument/2006/relationships/font" Target="fonts/ProximaNova-regular.fntdata"/><Relationship Id="rId53" Type="http://schemas.openxmlformats.org/officeDocument/2006/relationships/font" Target="fonts/ProximaNova-boldItalic.fntdata"/><Relationship Id="rId52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55" Type="http://schemas.openxmlformats.org/officeDocument/2006/relationships/font" Target="fonts/Anaheim-bold.fntdata"/><Relationship Id="rId10" Type="http://schemas.openxmlformats.org/officeDocument/2006/relationships/slide" Target="slides/slide5.xml"/><Relationship Id="rId54" Type="http://schemas.openxmlformats.org/officeDocument/2006/relationships/font" Target="fonts/Anaheim-regular.fntdata"/><Relationship Id="rId13" Type="http://schemas.openxmlformats.org/officeDocument/2006/relationships/slide" Target="slides/slide8.xml"/><Relationship Id="rId57" Type="http://schemas.openxmlformats.org/officeDocument/2006/relationships/font" Target="fonts/BarlowCondensedExtraBold-boldItalic.fntdata"/><Relationship Id="rId12" Type="http://schemas.openxmlformats.org/officeDocument/2006/relationships/slide" Target="slides/slide7.xml"/><Relationship Id="rId56" Type="http://schemas.openxmlformats.org/officeDocument/2006/relationships/font" Target="fonts/BarlowCondensedExtraBold-bold.fntdata"/><Relationship Id="rId15" Type="http://schemas.openxmlformats.org/officeDocument/2006/relationships/slide" Target="slides/slide10.xml"/><Relationship Id="rId59" Type="http://schemas.openxmlformats.org/officeDocument/2006/relationships/font" Target="fonts/ProximaNovaSemibold-bold.fntdata"/><Relationship Id="rId14" Type="http://schemas.openxmlformats.org/officeDocument/2006/relationships/slide" Target="slides/slide9.xml"/><Relationship Id="rId58" Type="http://schemas.openxmlformats.org/officeDocument/2006/relationships/font" Target="fonts/ProximaNova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03f8ac759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d03f8ac759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03f8ac75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d03f8ac75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03f8ac75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d03f8ac75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03f8ac759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d03f8ac759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03f8ac759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d03f8ac759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53300b827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253300b827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03f8ac759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d03f8ac759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03f8ac759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d03f8ac759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03f8ac759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d03f8ac759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03f8ac759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d03f8ac759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03f8ac759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d03f8ac759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03f8ac759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d03f8ac759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03f8ac759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d03f8ac759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03f8ac759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d03f8ac759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03f8ac759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d03f8ac759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03f8ac759_0_1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d03f8ac759_0_1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03f8ac759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d03f8ac759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03f8ac759_0_1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d03f8ac759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03f8ac759_0_1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d03f8ac759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03f8ac759_0_1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d03f8ac759_0_1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03f8ac759_0_1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d03f8ac759_0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03f8ac759_0_1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d03f8ac759_0_1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03f8ac759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d03f8ac759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03f8ac759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d03f8ac759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03f8ac759_0_1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d03f8ac759_0_1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03f8ac759_0_1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d03f8ac759_0_1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03f8ac759_0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d03f8ac759_0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d03f8ac759_0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d03f8ac759_0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07daf20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d07daf20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07daf203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d07daf203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03f8ac759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d03f8ac759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07daf203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d07daf203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07daf203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d07daf203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07daf203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d07daf203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d07daf203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d07daf20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07daf203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d07daf20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07daf203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d07daf203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07daf203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d07daf203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d07daf203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d07daf203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07daf203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d07daf203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gif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gif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>
                <a:solidFill>
                  <a:srgbClr val="FFFFFF"/>
                </a:solidFill>
              </a:rPr>
              <a:t>Aula 04: Padrões de projeto estruturais - parte 1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03f8ac759_0_321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RECAPITULANDO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03f8ac759_0_2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O grupo GoF definiu em seu livro uma classificação para agrupar padrões de projeto de acordo com sua finalidade. São elas: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criacionais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estruturais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Padrões comportamentais</a:t>
            </a:r>
            <a:endParaRPr/>
          </a:p>
        </p:txBody>
      </p:sp>
      <p:sp>
        <p:nvSpPr>
          <p:cNvPr id="367" name="Google Shape;367;g3d03f8ac759_0_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DE PROJETOS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03f8ac759_0_325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padrões de projeto estruturais focam na forma como a estrutura dos objetos são compostas, para formar estruturas maiores e completas.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Nesses padrões, encontramos diversas abordagens de estruturação e composição de objetos.</a:t>
            </a:r>
            <a:endParaRPr/>
          </a:p>
        </p:txBody>
      </p:sp>
      <p:sp>
        <p:nvSpPr>
          <p:cNvPr id="373" name="Google Shape;373;g3d03f8ac759_0_32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ESTRUTURAIS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ADAPTER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03f8ac759_0_64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Converter a interface de uma classe em outra interface, esperada pelos clientes. O Adapter permite que classes com interfaces incompatíveis trabalhem em conjunto - o que, de outra forma, seria impossível.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p.140</a:t>
            </a:r>
            <a:endParaRPr/>
          </a:p>
        </p:txBody>
      </p:sp>
      <p:sp>
        <p:nvSpPr>
          <p:cNvPr id="384" name="Google Shape;384;g3d03f8ac759_0_648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385" name="Google Shape;385;g3d03f8ac759_0_64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d03f8ac759_0_64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d03f8ac759_0_64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g3d03f8ac759_0_6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13" y="1593313"/>
            <a:ext cx="2437575" cy="243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03f8ac759_0_65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Você tem um sistema que espera receber dados em JSON. No entanto, você está integrando um sistema que retorna os dados em XML. Como você não pode modificar o código do fornecedor do sistema integrado, você precisa pensar em uma forma de trabalhar com os dados em XML, mas oferecendo os dados em JSON que o seu sistema espera.</a:t>
            </a:r>
            <a:endParaRPr/>
          </a:p>
        </p:txBody>
      </p:sp>
      <p:sp>
        <p:nvSpPr>
          <p:cNvPr id="394" name="Google Shape;394;g3d03f8ac759_0_65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395" name="Google Shape;395;g3d03f8ac759_0_65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d03f8ac759_0_65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d03f8ac759_0_65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g3d03f8ac759_0_6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13" y="1593313"/>
            <a:ext cx="2437575" cy="243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3300b8278_0_19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04" name="Google Shape;404;g253300b8278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38" y="1012200"/>
            <a:ext cx="7305925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03f8ac759_0_671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Target</a:t>
            </a:r>
            <a:r>
              <a:rPr lang="pt-BR"/>
              <a:t>: interface que declara o domínio utilizado pelo sistema	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Adaptee</a:t>
            </a:r>
            <a:r>
              <a:rPr lang="pt-BR"/>
              <a:t>: operação que deve ser adaptada ao domínio do sistema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Adapter</a:t>
            </a:r>
            <a:r>
              <a:rPr lang="pt-BR"/>
              <a:t>: implementação que adapta a operação integrada ao domínio do sistema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faz uso do adaptador</a:t>
            </a:r>
            <a:endParaRPr/>
          </a:p>
        </p:txBody>
      </p:sp>
      <p:sp>
        <p:nvSpPr>
          <p:cNvPr id="410" name="Google Shape;410;g3d03f8ac759_0_67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03f8ac759_0_990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operação integrada fica encapsulada em um adaptador do sistema, que fica responsável por utilizar a operação e transforma o resultado para o domínio do sistema.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 cliente, somente o adaptador é utilizado, sem exposição da integração.</a:t>
            </a:r>
            <a:endParaRPr/>
          </a:p>
        </p:txBody>
      </p:sp>
      <p:sp>
        <p:nvSpPr>
          <p:cNvPr id="416" name="Google Shape;416;g3d03f8ac759_0_99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03f8ac759_0_995"/>
          <p:cNvSpPr txBox="1"/>
          <p:nvPr>
            <p:ph idx="1" type="body"/>
          </p:nvPr>
        </p:nvSpPr>
        <p:spPr>
          <a:xfrm>
            <a:off x="4401425" y="1997200"/>
            <a:ext cx="41871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Sua loja virtual utiliza o PayPal como gateway de pagamentos. Um belo dia, você começa a integrar também o Stripe. Cada um desses gateways expõe um método específico para realizar uma transação.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Devemos criar um adaptador para integrar diferentes gateways para uma interface comum de transações da própria loja virtual.</a:t>
            </a:r>
            <a:endParaRPr/>
          </a:p>
        </p:txBody>
      </p:sp>
      <p:sp>
        <p:nvSpPr>
          <p:cNvPr id="422" name="Google Shape;422;g3d03f8ac759_0_995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23" name="Google Shape;423;g3d03f8ac759_0_995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d03f8ac759_0_995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d03f8ac759_0_995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3d03f8ac759_0_995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03f8ac759_0_100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32" name="Google Shape;432;g3d03f8ac759_0_10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1190775"/>
            <a:ext cx="8839199" cy="2761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03f8ac759_0_1009"/>
          <p:cNvSpPr txBox="1"/>
          <p:nvPr>
            <p:ph idx="1" type="body"/>
          </p:nvPr>
        </p:nvSpPr>
        <p:spPr>
          <a:xfrm>
            <a:off x="4401425" y="1997200"/>
            <a:ext cx="4187100" cy="2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sistema de monitoramento de temperatura, você pode usar sensores de diferentes fabricantes, com diferentes formas de uso. Um sensor retorna a temperatura em escala </a:t>
            </a:r>
            <a:r>
              <a:rPr b="1" lang="pt-BR"/>
              <a:t>Celsius</a:t>
            </a:r>
            <a:r>
              <a:rPr lang="pt-BR"/>
              <a:t> no formato de </a:t>
            </a:r>
            <a:r>
              <a:rPr b="1" lang="pt-BR"/>
              <a:t>string</a:t>
            </a:r>
            <a:r>
              <a:rPr lang="pt-BR"/>
              <a:t> e outro retorna a temperatura em escala </a:t>
            </a:r>
            <a:r>
              <a:rPr b="1" lang="pt-BR"/>
              <a:t>Fahrenheit</a:t>
            </a:r>
            <a:r>
              <a:rPr lang="pt-BR"/>
              <a:t> no formato de </a:t>
            </a:r>
            <a:r>
              <a:rPr b="1" lang="pt-BR"/>
              <a:t>ponto flutuante</a:t>
            </a:r>
            <a:r>
              <a:rPr lang="pt-BR"/>
              <a:t>. Você deve padronizar a medição de temperatura para retornar sempre na escala </a:t>
            </a:r>
            <a:r>
              <a:rPr b="1" lang="pt-BR"/>
              <a:t>Celsius</a:t>
            </a:r>
            <a:r>
              <a:rPr lang="pt-BR"/>
              <a:t> em formato de ponto </a:t>
            </a:r>
            <a:r>
              <a:rPr b="1" lang="pt-BR"/>
              <a:t>flutuante</a:t>
            </a:r>
            <a:r>
              <a:rPr lang="pt-BR"/>
              <a:t>.</a:t>
            </a:r>
            <a:endParaRPr/>
          </a:p>
        </p:txBody>
      </p:sp>
      <p:sp>
        <p:nvSpPr>
          <p:cNvPr id="438" name="Google Shape;438;g3d03f8ac759_0_1009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39" name="Google Shape;439;g3d03f8ac759_0_1009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d03f8ac759_0_100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d03f8ac759_0_100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g3d03f8ac759_0_1009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03f8ac759_0_1018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03f8ac759_0_1024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Usar uma classe já existente, mas cuja assinatura não corresponde com o sistema atual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sistema que implementa uma classe reutilizável que coopere com classes não relacionadas ou não previstas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Usar várias subclasses, mas que é impraticável adaptar suas interfaces</a:t>
            </a:r>
            <a:endParaRPr/>
          </a:p>
        </p:txBody>
      </p:sp>
      <p:sp>
        <p:nvSpPr>
          <p:cNvPr id="453" name="Google Shape;453;g3d03f8ac759_0_1024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03f8ac759_0_1343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Adaptar classes de assinaturas distintas, favorecendo transparência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Encapsular operações com formatos distintos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Manter um ponto comum de utilização no sistema</a:t>
            </a:r>
            <a:endParaRPr/>
          </a:p>
        </p:txBody>
      </p:sp>
      <p:sp>
        <p:nvSpPr>
          <p:cNvPr id="459" name="Google Shape;459;g3d03f8ac759_0_134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03f8ac759_0_644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BRIDGE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03f8ac759_0_1666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Desacoplar uma abstração da sua implementação, de modo que as duas possam variar independentemente.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p.151</a:t>
            </a:r>
            <a:endParaRPr/>
          </a:p>
        </p:txBody>
      </p:sp>
      <p:sp>
        <p:nvSpPr>
          <p:cNvPr id="470" name="Google Shape;470;g3d03f8ac759_0_1666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71" name="Google Shape;471;g3d03f8ac759_0_166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d03f8ac759_0_166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d03f8ac759_0_166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g3d03f8ac759_0_1666"/>
          <p:cNvPicPr preferRelativeResize="0"/>
          <p:nvPr/>
        </p:nvPicPr>
        <p:blipFill rotWithShape="1">
          <a:blip r:embed="rId3">
            <a:alphaModFix/>
          </a:blip>
          <a:srcRect b="0" l="12717" r="0" t="0"/>
          <a:stretch/>
        </p:blipFill>
        <p:spPr>
          <a:xfrm>
            <a:off x="44625" y="1614250"/>
            <a:ext cx="3135150" cy="239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03f8ac759_0_1676"/>
          <p:cNvSpPr txBox="1"/>
          <p:nvPr>
            <p:ph idx="1" type="body"/>
          </p:nvPr>
        </p:nvSpPr>
        <p:spPr>
          <a:xfrm>
            <a:off x="4401425" y="1997200"/>
            <a:ext cx="4187100" cy="2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sistema de desenho gráfico, temos nossa classe </a:t>
            </a:r>
            <a:r>
              <a:rPr b="1" lang="pt-BR"/>
              <a:t>Forma</a:t>
            </a:r>
            <a:r>
              <a:rPr lang="pt-BR"/>
              <a:t> usada para criar uma forma geométrica. Nessa nossa forma, gostaríamos de aplicar cores diferentes a ela. Como temos diferentes formas e diferentes cores, seguindo uma abordagem de herança teríamos uma propagação gigantesca de sub-classes dentro do sistema.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 se, ao invés de tratarmos essas diferenças como tipos, tratássemos como composições?</a:t>
            </a:r>
            <a:endParaRPr/>
          </a:p>
        </p:txBody>
      </p:sp>
      <p:sp>
        <p:nvSpPr>
          <p:cNvPr id="480" name="Google Shape;480;g3d03f8ac759_0_1676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481" name="Google Shape;481;g3d03f8ac759_0_167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d03f8ac759_0_167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d03f8ac759_0_167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g3d03f8ac759_0_1676"/>
          <p:cNvPicPr preferRelativeResize="0"/>
          <p:nvPr/>
        </p:nvPicPr>
        <p:blipFill rotWithShape="1">
          <a:blip r:embed="rId3">
            <a:alphaModFix/>
          </a:blip>
          <a:srcRect b="0" l="12717" r="0" t="0"/>
          <a:stretch/>
        </p:blipFill>
        <p:spPr>
          <a:xfrm>
            <a:off x="44625" y="1614250"/>
            <a:ext cx="3135150" cy="239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03f8ac759_0_168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90" name="Google Shape;490;g3d03f8ac759_0_16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4600"/>
            <a:ext cx="8839199" cy="3048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03f8ac759_0_1695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Abstraction</a:t>
            </a:r>
            <a:r>
              <a:rPr lang="pt-BR"/>
              <a:t>: interface que define a abstração da operação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RefinedAbstraction</a:t>
            </a:r>
            <a:r>
              <a:rPr lang="pt-BR"/>
              <a:t>: implementação da operação. Neste ponto, mantém-se uma referência para Implementor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Implementor</a:t>
            </a:r>
            <a:r>
              <a:rPr lang="pt-BR"/>
              <a:t>: interface que define operações a serem implementadas pelas classes, sem ter correspondência direta com Abstraction</a:t>
            </a:r>
            <a:endParaRPr/>
          </a:p>
        </p:txBody>
      </p:sp>
      <p:sp>
        <p:nvSpPr>
          <p:cNvPr id="496" name="Google Shape;496;g3d03f8ac759_0_169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03f8ac759_0_1705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ConcreteImplementorX</a:t>
            </a:r>
            <a:r>
              <a:rPr lang="pt-BR"/>
              <a:t>: implementação concreta da operação definida por Implementor, que fará parte da composição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faz uso das operações de Abstraction e Implementor a partir da implementação refinada</a:t>
            </a:r>
            <a:endParaRPr/>
          </a:p>
        </p:txBody>
      </p:sp>
      <p:sp>
        <p:nvSpPr>
          <p:cNvPr id="502" name="Google Shape;502;g3d03f8ac759_0_170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03f8ac759_0_1700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 cliente criamos o objeto que implementa a operação de Implementor. Após isso, conseguimos criar nossa abstração passando o objeto de Implementor para compôr a operação. Quando utilizamos a abstração, as duas operações se conectam, e podemos mudar as abstrações compostas por diferentes implementações.</a:t>
            </a:r>
            <a:endParaRPr/>
          </a:p>
        </p:txBody>
      </p:sp>
      <p:sp>
        <p:nvSpPr>
          <p:cNvPr id="508" name="Google Shape;508;g3d03f8ac759_0_170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03f8ac759_0_1710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Retomando nossa loja virtual, vamos tratar das formas de pagamento previstas para compras. Como modalidades de pagamento, podemos oferecer pagamento a vista ou parcelado. Já as formas de pagamento disponíveis são PIX, cartão de crédito e débito e boleto bancário.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isso no nosso sistema.</a:t>
            </a:r>
            <a:endParaRPr/>
          </a:p>
        </p:txBody>
      </p:sp>
      <p:sp>
        <p:nvSpPr>
          <p:cNvPr id="514" name="Google Shape;514;g3d03f8ac759_0_1710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15" name="Google Shape;515;g3d03f8ac759_0_1710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d03f8ac759_0_171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d03f8ac759_0_171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g3d03f8ac759_0_1710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03f8ac759_0_171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24" name="Google Shape;524;g3d03f8ac759_0_17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49" y="1012200"/>
            <a:ext cx="8839201" cy="36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03f8ac759_0_1724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um sistema de troca de mensagens, onde podemos enviar mensagens de diferentes tipos de prioridade entregue em vários canais de comunicação possíveis.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Devemos ser capazes de escolher o canal de comunicação no momento em que estamos configurando a mensagem a ser enviada.</a:t>
            </a:r>
            <a:endParaRPr/>
          </a:p>
        </p:txBody>
      </p:sp>
      <p:sp>
        <p:nvSpPr>
          <p:cNvPr id="530" name="Google Shape;530;g3d03f8ac759_0_1724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31" name="Google Shape;531;g3d03f8ac759_0_1724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d03f8ac759_0_172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d03f8ac759_0_172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g3d03f8ac759_0_1724"/>
          <p:cNvPicPr preferRelativeResize="0"/>
          <p:nvPr/>
        </p:nvPicPr>
        <p:blipFill rotWithShape="1">
          <a:blip r:embed="rId3">
            <a:alphaModFix/>
          </a:blip>
          <a:srcRect b="10338" l="27767" r="0" t="0"/>
          <a:stretch/>
        </p:blipFill>
        <p:spPr>
          <a:xfrm>
            <a:off x="0" y="1567100"/>
            <a:ext cx="3224400" cy="2589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03f8ac759_0_173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03f8ac759_0_1738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Deve se evitar vínculo permanente entre uma abstração e uma implementação.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Precisamos que as abstrações e implementações precisarem ser extensíveis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Quisermos evitar proliferação de sub-classes</a:t>
            </a:r>
            <a:endParaRPr/>
          </a:p>
        </p:txBody>
      </p:sp>
      <p:sp>
        <p:nvSpPr>
          <p:cNvPr id="545" name="Google Shape;545;g3d03f8ac759_0_173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03f8ac759_0_1743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Desacoplar interface da implementação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Extensibilidade melhorada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Ocultação de detalhes de implementação dos clientes</a:t>
            </a:r>
            <a:endParaRPr/>
          </a:p>
        </p:txBody>
      </p:sp>
      <p:sp>
        <p:nvSpPr>
          <p:cNvPr id="551" name="Google Shape;551;g3d03f8ac759_0_174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03f8ac759_0_166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COMPOSITE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07daf2039_0_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Compor objetos em estruturas de árvore para </a:t>
            </a:r>
            <a:r>
              <a:rPr lang="pt-BR"/>
              <a:t>representar</a:t>
            </a:r>
            <a:r>
              <a:rPr lang="pt-BR"/>
              <a:t> hierarquias partes-todo. Composite permite aos clientes tratarem de maneira uniforme objetos individuais e composições de objetos.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p.160</a:t>
            </a:r>
            <a:endParaRPr/>
          </a:p>
        </p:txBody>
      </p:sp>
      <p:sp>
        <p:nvSpPr>
          <p:cNvPr id="562" name="Google Shape;562;g3d07daf2039_0_4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563" name="Google Shape;563;g3d07daf2039_0_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d07daf2039_0_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d07daf2039_0_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g3d07daf2039_0_4"/>
          <p:cNvPicPr preferRelativeResize="0"/>
          <p:nvPr/>
        </p:nvPicPr>
        <p:blipFill rotWithShape="1">
          <a:blip r:embed="rId3">
            <a:alphaModFix/>
          </a:blip>
          <a:srcRect b="19769" l="0" r="0" t="0"/>
          <a:stretch/>
        </p:blipFill>
        <p:spPr>
          <a:xfrm>
            <a:off x="36325" y="1496050"/>
            <a:ext cx="3151751" cy="263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07daf2039_0_13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Temos um sistema de arquivos em um sistema operacional, onde temos arquivos (folhas) e diretórios (compostos). Em um diretório temos arquivos e também podemos ter outros diretórios salvos. Para calcular o tamanho total de uma página, você não quer se preocupar com o conteúdo do diretório (arquivo ou outro diretório), você apenas pede o tamanho e recebe esta informação.</a:t>
            </a:r>
            <a:endParaRPr/>
          </a:p>
        </p:txBody>
      </p:sp>
      <p:sp>
        <p:nvSpPr>
          <p:cNvPr id="572" name="Google Shape;572;g3d07daf2039_0_13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573" name="Google Shape;573;g3d07daf2039_0_13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d07daf2039_0_1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d07daf2039_0_1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6" name="Google Shape;576;g3d07daf2039_0_13"/>
          <p:cNvPicPr preferRelativeResize="0"/>
          <p:nvPr/>
        </p:nvPicPr>
        <p:blipFill rotWithShape="1">
          <a:blip r:embed="rId3">
            <a:alphaModFix/>
          </a:blip>
          <a:srcRect b="19769" l="0" r="0" t="0"/>
          <a:stretch/>
        </p:blipFill>
        <p:spPr>
          <a:xfrm>
            <a:off x="36325" y="1496050"/>
            <a:ext cx="3151751" cy="263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d03f8ac759_0_66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82" name="Google Shape;582;g3d03f8ac759_0_6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30" y="1012200"/>
            <a:ext cx="8029740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07daf2039_0_28"/>
          <p:cNvSpPr txBox="1"/>
          <p:nvPr>
            <p:ph idx="1" type="body"/>
          </p:nvPr>
        </p:nvSpPr>
        <p:spPr>
          <a:xfrm>
            <a:off x="4579525" y="2540600"/>
            <a:ext cx="39327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Component</a:t>
            </a:r>
            <a:r>
              <a:rPr lang="pt-BR"/>
              <a:t>: interface que define uma operação executada, e ações para manipulação da composição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Leaf</a:t>
            </a:r>
            <a:r>
              <a:rPr lang="pt-BR"/>
              <a:t>: implementação da operação executada, sem a previsão de composição (folha)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Composite</a:t>
            </a:r>
            <a:r>
              <a:rPr lang="pt-BR"/>
              <a:t>: implementação da operação executada e das ações de manipulação da composição (compostos)</a:t>
            </a:r>
            <a:endParaRPr/>
          </a:p>
        </p:txBody>
      </p:sp>
      <p:sp>
        <p:nvSpPr>
          <p:cNvPr id="588" name="Google Shape;588;g3d07daf2039_0_2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07daf2039_0_33"/>
          <p:cNvSpPr txBox="1"/>
          <p:nvPr>
            <p:ph idx="1" type="body"/>
          </p:nvPr>
        </p:nvSpPr>
        <p:spPr>
          <a:xfrm>
            <a:off x="4579525" y="2540600"/>
            <a:ext cx="39327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Composite (pt 2)</a:t>
            </a:r>
            <a:r>
              <a:rPr lang="pt-BR"/>
              <a:t>: sempre que a operação for solicitada, deve se executar todas as operações descendentes na hierarquia de forma recursiva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inicia a raiz da composição</a:t>
            </a:r>
            <a:endParaRPr/>
          </a:p>
        </p:txBody>
      </p:sp>
      <p:sp>
        <p:nvSpPr>
          <p:cNvPr id="594" name="Google Shape;594;g3d07daf2039_0_3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07daf2039_0_38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cliente inicia uma raiz da composição, adicionando novas partes da </a:t>
            </a:r>
            <a:r>
              <a:rPr b="1" lang="pt-BR"/>
              <a:t>composição</a:t>
            </a:r>
            <a:r>
              <a:rPr lang="pt-BR"/>
              <a:t> (compostos) ou adicionando </a:t>
            </a:r>
            <a:r>
              <a:rPr b="1" lang="pt-BR"/>
              <a:t>operações terminais</a:t>
            </a:r>
            <a:r>
              <a:rPr lang="pt-BR"/>
              <a:t> (folhas). A operação executada a partir da raiz será o resultado da composição de toda a árvore de componentes registrados.</a:t>
            </a:r>
            <a:endParaRPr/>
          </a:p>
        </p:txBody>
      </p:sp>
      <p:sp>
        <p:nvSpPr>
          <p:cNvPr id="600" name="Google Shape;600;g3d07daf2039_0_3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07daf2039_0_43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Imagine um sistema de pedidos para um restaurante, onde um cliente pode comprar itens “avulsos” ou “combos”. O atendente registra todos os itens do pedido e, ao final, ele deve ser capaz de calcular o valor final e informar ao cliente.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este sistema.</a:t>
            </a:r>
            <a:endParaRPr/>
          </a:p>
        </p:txBody>
      </p:sp>
      <p:sp>
        <p:nvSpPr>
          <p:cNvPr id="606" name="Google Shape;606;g3d07daf2039_0_43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07" name="Google Shape;607;g3d07daf2039_0_43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d07daf2039_0_4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d07daf2039_0_4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Google Shape;610;g3d07daf2039_0_43"/>
          <p:cNvPicPr preferRelativeResize="0"/>
          <p:nvPr/>
        </p:nvPicPr>
        <p:blipFill rotWithShape="1">
          <a:blip r:embed="rId3">
            <a:alphaModFix/>
          </a:blip>
          <a:srcRect b="0" l="19853" r="0" t="0"/>
          <a:stretch/>
        </p:blipFill>
        <p:spPr>
          <a:xfrm>
            <a:off x="0" y="1573384"/>
            <a:ext cx="3224400" cy="257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07daf2039_0_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616" name="Google Shape;616;g3d07daf2039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913" y="1012200"/>
            <a:ext cx="7074274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07daf2039_0_57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o sistema de arquivos do sistema operacional. Neste sistema, devemos ser capazes de listar o que temos em um diretório e ver o total de espaço ocupado por arquivos e diretórios.</a:t>
            </a:r>
            <a:endParaRPr/>
          </a:p>
        </p:txBody>
      </p:sp>
      <p:sp>
        <p:nvSpPr>
          <p:cNvPr id="622" name="Google Shape;622;g3d07daf2039_0_57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23" name="Google Shape;623;g3d07daf2039_0_57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d07daf2039_0_5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d07daf2039_0_5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6" name="Google Shape;626;g3d07daf2039_0_57"/>
          <p:cNvPicPr preferRelativeResize="0"/>
          <p:nvPr/>
        </p:nvPicPr>
        <p:blipFill rotWithShape="1">
          <a:blip r:embed="rId3">
            <a:alphaModFix/>
          </a:blip>
          <a:srcRect b="0" l="19853" r="0" t="0"/>
          <a:stretch/>
        </p:blipFill>
        <p:spPr>
          <a:xfrm>
            <a:off x="0" y="1573384"/>
            <a:ext cx="3224400" cy="257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d07daf2039_0_6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d07daf2039_0_70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Precisamos representar no sistema uma hierarquia de objetos partes-todo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Os clientes do sistema devem ser capazes de ignorar a diferença entre composições de objetos e objetos individuais, todos serão tratados da mesma forma uniforme</a:t>
            </a:r>
            <a:endParaRPr/>
          </a:p>
        </p:txBody>
      </p:sp>
      <p:sp>
        <p:nvSpPr>
          <p:cNvPr id="637" name="Google Shape;637;g3d07daf2039_0_7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07daf2039_0_75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Hierarquia de classes com objetos primitivos e compostos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Clientes simples, tratam os objetos da mesma forma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Facilidade na adição de novas espécies de componentes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Pode tornar o projeto genérico demais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Inutilidade de métodos de composição em objetos individuais</a:t>
            </a:r>
            <a:endParaRPr/>
          </a:p>
        </p:txBody>
      </p:sp>
      <p:sp>
        <p:nvSpPr>
          <p:cNvPr id="643" name="Google Shape;643;g3d07daf2039_0_7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de projeto estruturais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Adapter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Bridge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Padrão Composite</a:t>
            </a:r>
            <a:endParaRPr/>
          </a:p>
        </p:txBody>
      </p:sp>
      <p:sp>
        <p:nvSpPr>
          <p:cNvPr id="649" name="Google Shape;649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650" name="Google Shape;650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3" name="Google Shape;653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659" name="Google Shape;659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</a:t>
            </a: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ASKITIGUIRIDIDOUUUU!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Xand Avião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60" name="Google Shape;660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1" name="Google Shape;6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63" y="1591788"/>
            <a:ext cx="2019387" cy="26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