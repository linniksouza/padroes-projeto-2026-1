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Proxima Nova"/>
      <p:regular r:id="rId48"/>
      <p:bold r:id="rId49"/>
      <p:italic r:id="rId50"/>
      <p:boldItalic r:id="rId51"/>
    </p:embeddedFont>
    <p:embeddedFont>
      <p:font typeface="Anaheim"/>
      <p:regular r:id="rId52"/>
      <p:bold r:id="rId53"/>
    </p:embeddedFont>
    <p:embeddedFont>
      <p:font typeface="Barlow Condensed ExtraBold"/>
      <p:bold r:id="rId54"/>
      <p:boldItalic r:id="rId55"/>
    </p:embeddedFont>
    <p:embeddedFont>
      <p:font typeface="Proxima Nova Semibold"/>
      <p:regular r:id="rId56"/>
      <p:bold r:id="rId57"/>
      <p:boldItalic r:id="rId58"/>
    </p:embeddedFont>
    <p:embeddedFont>
      <p:font typeface="Overpass Mono"/>
      <p:regular r:id="rId59"/>
      <p:bold r:id="rId60"/>
    </p:embeddedFont>
    <p:embeddedFont>
      <p:font typeface="Barlow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juY5E8njrCuss/XuMFCerfljY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ProximaNova-regular.fntdata"/><Relationship Id="rId47" Type="http://schemas.openxmlformats.org/officeDocument/2006/relationships/slide" Target="slides/slide42.xml"/><Relationship Id="rId49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Barlow-bold.fntdata"/><Relationship Id="rId61" Type="http://schemas.openxmlformats.org/officeDocument/2006/relationships/font" Target="fonts/Barlow-regular.fntdata"/><Relationship Id="rId20" Type="http://schemas.openxmlformats.org/officeDocument/2006/relationships/slide" Target="slides/slide15.xml"/><Relationship Id="rId64" Type="http://schemas.openxmlformats.org/officeDocument/2006/relationships/font" Target="fonts/Barlow-boldItalic.fntdata"/><Relationship Id="rId63" Type="http://schemas.openxmlformats.org/officeDocument/2006/relationships/font" Target="fonts/Barlow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verpass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boldItalic.fntdata"/><Relationship Id="rId50" Type="http://schemas.openxmlformats.org/officeDocument/2006/relationships/font" Target="fonts/ProximaNova-italic.fntdata"/><Relationship Id="rId53" Type="http://schemas.openxmlformats.org/officeDocument/2006/relationships/font" Target="fonts/Anaheim-bold.fntdata"/><Relationship Id="rId52" Type="http://schemas.openxmlformats.org/officeDocument/2006/relationships/font" Target="fonts/Anaheim-regular.fntdata"/><Relationship Id="rId11" Type="http://schemas.openxmlformats.org/officeDocument/2006/relationships/slide" Target="slides/slide6.xml"/><Relationship Id="rId55" Type="http://schemas.openxmlformats.org/officeDocument/2006/relationships/font" Target="fonts/BarlowCondensedExtraBold-boldItalic.fntdata"/><Relationship Id="rId10" Type="http://schemas.openxmlformats.org/officeDocument/2006/relationships/slide" Target="slides/slide5.xml"/><Relationship Id="rId54" Type="http://schemas.openxmlformats.org/officeDocument/2006/relationships/font" Target="fonts/BarlowCondensedExtraBold-bold.fntdata"/><Relationship Id="rId13" Type="http://schemas.openxmlformats.org/officeDocument/2006/relationships/slide" Target="slides/slide8.xml"/><Relationship Id="rId57" Type="http://schemas.openxmlformats.org/officeDocument/2006/relationships/font" Target="fonts/ProximaNovaSemibold-bold.fntdata"/><Relationship Id="rId12" Type="http://schemas.openxmlformats.org/officeDocument/2006/relationships/slide" Target="slides/slide7.xml"/><Relationship Id="rId56" Type="http://schemas.openxmlformats.org/officeDocument/2006/relationships/font" Target="fonts/ProximaNova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OverpassMono-regular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76dcc8c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76dcc8c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76dcc8c2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d76dcc8c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76dcc8c26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d76dcc8c26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76dcc8c26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d76dcc8c26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53300b827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253300b827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76dcc8c26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d76dcc8c26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76dcc8c26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d76dcc8c26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76dcc8c26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d76dcc8c26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76dcc8c26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d76dcc8c26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8530cce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d8530cce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8530cce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d8530cce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8530cce7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d8530cce7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8530cce7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8530cce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8530cce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d8530cce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76dcc8c2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d76dcc8c2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8530cce7c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d8530cce7c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8530cce7c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8530cce7c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8530cce7c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8530cce7c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8530cce7c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d8530cce7c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8530cce7c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8530cce7c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8530cce7c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d8530cce7c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8530cce7c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d8530cce7c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8530cce7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d8530cce7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8530cce7c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d8530cce7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8530cce7c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d8530cce7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8530cce7c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d8530cce7c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8530cce7c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d8530cce7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8530cce7c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d8530cce7c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8530cce7c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d8530cce7c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8530cce7c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d8530cce7c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8530cce7c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d8530cce7c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8530cce7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d8530cce7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8530cce7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d8530cce7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8530cce7c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8530cce7c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8530cce7c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d8530cce7c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8530cce7c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d8530cce7c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8530cce7c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d8530cce7c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d8530cce7c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d8530cce7c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Aula 08: Padrões de projeto comportamentais - parte 3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76dcc8c26_0_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76dcc8c26_0_4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comportamentais focam em algoritmos e atribuição de responsabilidades entre objetos, descrevendo padrões de comunicação entre eles.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uso intensivo de polimorfismo.</a:t>
            </a:r>
            <a:endParaRPr/>
          </a:p>
        </p:txBody>
      </p:sp>
      <p:sp>
        <p:nvSpPr>
          <p:cNvPr id="367" name="Google Shape;367;g3d76dcc8c26_0_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COMPORTAMENTAIS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OBSERVER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76dcc8c26_0_32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Definir uma dependência um-para-muitos entre objetos, de maneira que quando um objeto muda de estado todos os seus dependentes são notificados e atualizados automaticamente.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p.274</a:t>
            </a:r>
            <a:endParaRPr/>
          </a:p>
        </p:txBody>
      </p:sp>
      <p:sp>
        <p:nvSpPr>
          <p:cNvPr id="378" name="Google Shape;378;g3d76dcc8c26_0_32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379" name="Google Shape;379;g3d76dcc8c26_0_32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d76dcc8c26_0_32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76dcc8c26_0_32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d76dcc8c26_0_327"/>
          <p:cNvPicPr preferRelativeResize="0"/>
          <p:nvPr/>
        </p:nvPicPr>
        <p:blipFill rotWithShape="1">
          <a:blip r:embed="rId3">
            <a:alphaModFix/>
          </a:blip>
          <a:srcRect b="0" l="3260" r="0" t="42971"/>
          <a:stretch/>
        </p:blipFill>
        <p:spPr>
          <a:xfrm>
            <a:off x="12225" y="1554550"/>
            <a:ext cx="3199947" cy="25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76dcc8c26_0_33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que você tem interesse no conteúdo de uma determinada revista, que é atualizada com periodicidade variada. Ao invés de você ficar ligando para a redação da revista para perguntar quando a nova edição será distribuída, você realiza uma assinatura e, quando uma nova edição da revista ficar pronta, ela será entregue na sua casa sem que você tenha que ficar atento.</a:t>
            </a:r>
            <a:endParaRPr/>
          </a:p>
        </p:txBody>
      </p:sp>
      <p:sp>
        <p:nvSpPr>
          <p:cNvPr id="388" name="Google Shape;388;g3d76dcc8c26_0_33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389" name="Google Shape;389;g3d76dcc8c26_0_33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d76dcc8c26_0_33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d76dcc8c26_0_33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3d76dcc8c26_0_336"/>
          <p:cNvPicPr preferRelativeResize="0"/>
          <p:nvPr/>
        </p:nvPicPr>
        <p:blipFill rotWithShape="1">
          <a:blip r:embed="rId3">
            <a:alphaModFix/>
          </a:blip>
          <a:srcRect b="0" l="3260" r="0" t="42971"/>
          <a:stretch/>
        </p:blipFill>
        <p:spPr>
          <a:xfrm>
            <a:off x="12225" y="1554550"/>
            <a:ext cx="3199947" cy="25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53300b8278_0_19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398" name="Google Shape;398;g253300b8278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826" y="1012200"/>
            <a:ext cx="6110349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76dcc8c26_0_351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Subject</a:t>
            </a:r>
            <a:r>
              <a:rPr lang="pt-BR"/>
              <a:t>: interface que fornece operações para inscrever observadores e de notificar atualizações do estado gerenciado.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ConcreteSubject</a:t>
            </a:r>
            <a:r>
              <a:rPr lang="pt-BR"/>
              <a:t>: implementação das operações de observação do estado. Nesse ponto, todos os observadores recebem a atualização</a:t>
            </a:r>
            <a:endParaRPr/>
          </a:p>
        </p:txBody>
      </p:sp>
      <p:sp>
        <p:nvSpPr>
          <p:cNvPr id="404" name="Google Shape;404;g3d76dcc8c26_0_35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76dcc8c26_0_670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Observer</a:t>
            </a:r>
            <a:r>
              <a:rPr lang="pt-BR"/>
              <a:t>: interface que define ponto de recebimento de atualização do estado observado</a:t>
            </a:r>
            <a:endParaRPr b="1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ConcreteObserver</a:t>
            </a:r>
            <a:r>
              <a:rPr lang="pt-BR"/>
              <a:t>: implementação da operação de recebimento do estado atualizado que está sendo observado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orquestra a utilização do estado observado, inscrevendo novos observadores</a:t>
            </a:r>
            <a:endParaRPr/>
          </a:p>
        </p:txBody>
      </p:sp>
      <p:sp>
        <p:nvSpPr>
          <p:cNvPr id="410" name="Google Shape;410;g3d76dcc8c26_0_67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76dcc8c26_0_675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objeto com estado observável é criado e, a partir dele, observadores podem ser inscritos para receberem atualizações deste estado. Sempre que o estado for atualizado, o objeto percorre todos os observadores inscritos, enviado para eles o estado atualizado.</a:t>
            </a:r>
            <a:endParaRPr/>
          </a:p>
        </p:txBody>
      </p:sp>
      <p:sp>
        <p:nvSpPr>
          <p:cNvPr id="416" name="Google Shape;416;g3d76dcc8c26_0_67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76dcc8c26_0_994"/>
          <p:cNvSpPr txBox="1"/>
          <p:nvPr>
            <p:ph idx="1" type="body"/>
          </p:nvPr>
        </p:nvSpPr>
        <p:spPr>
          <a:xfrm>
            <a:off x="4401425" y="1997200"/>
            <a:ext cx="41871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Quando o Bistecones faz uma nova postagem, todos os seguidores devem ser notificados. Dessa forma, quando um novo post é publicado, o sistema percorre essa lista e chama o método “atualizar” de cada seguidor, disparando uma notificação (push, e-mail etc).</a:t>
            </a:r>
            <a:endParaRPr/>
          </a:p>
        </p:txBody>
      </p:sp>
      <p:sp>
        <p:nvSpPr>
          <p:cNvPr id="422" name="Google Shape;422;g3d76dcc8c26_0_994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23" name="Google Shape;423;g3d76dcc8c26_0_994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d76dcc8c26_0_99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d76dcc8c26_0_99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3d76dcc8c26_0_994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8530cce7c_0_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32" name="Google Shape;432;g3d8530cce7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07" y="1012200"/>
            <a:ext cx="8225186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8530cce7c_0_7"/>
          <p:cNvSpPr txBox="1"/>
          <p:nvPr>
            <p:ph idx="1" type="body"/>
          </p:nvPr>
        </p:nvSpPr>
        <p:spPr>
          <a:xfrm>
            <a:off x="4401425" y="1997200"/>
            <a:ext cx="41871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painel de ações ou criptomoedas, várias partes da interface (um gráfico de velas, uma tabela de preços, um histórico de transações) precisa exibir o valor atual de um ativo. Quando o preço de um ativo muda, os componentes que observam essa ação recebem o valor e atualizam a visualização na interface.</a:t>
            </a:r>
            <a:endParaRPr/>
          </a:p>
        </p:txBody>
      </p:sp>
      <p:sp>
        <p:nvSpPr>
          <p:cNvPr id="438" name="Google Shape;438;g3d8530cce7c_0_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39" name="Google Shape;439;g3d8530cce7c_0_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d8530cce7c_0_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d8530cce7c_0_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3d8530cce7c_0_7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8530cce7c_0_1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8530cce7c_0_21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uma abstração tem dois aspectos, onde um depende do outro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a mudança em um objeto exige mudanças em outros, e você não sabe quantos objetos devem ser mudados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um objeto deveria ser capaz de notificar outros objetos sem fazer hipóteses, ou usar informações, sobre quem são esses objetos</a:t>
            </a:r>
            <a:endParaRPr/>
          </a:p>
        </p:txBody>
      </p:sp>
      <p:sp>
        <p:nvSpPr>
          <p:cNvPr id="453" name="Google Shape;453;g3d8530cce7c_0_2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8530cce7c_0_26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Acoplamento abstrato entre Subject e Observer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Suporte para comunicações do tipo broadcast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Atualizações inesperadas, sem considerar o custo global de mudança do subject</a:t>
            </a:r>
            <a:endParaRPr/>
          </a:p>
        </p:txBody>
      </p:sp>
      <p:sp>
        <p:nvSpPr>
          <p:cNvPr id="459" name="Google Shape;459;g3d8530cce7c_0_2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76dcc8c26_0_323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STATE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530cce7c_0_34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Permitir a um objeto alterar seu comportamento quando seu estado interno muda. O objeto parecerá ter mudado sua classe.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p.284</a:t>
            </a:r>
            <a:endParaRPr/>
          </a:p>
        </p:txBody>
      </p:sp>
      <p:sp>
        <p:nvSpPr>
          <p:cNvPr id="470" name="Google Shape;470;g3d8530cce7c_0_349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71" name="Google Shape;471;g3d8530cce7c_0_34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8530cce7c_0_34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8530cce7c_0_34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g3d8530cce7c_0_3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63" y="1478700"/>
            <a:ext cx="2847087" cy="26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8530cce7c_0_35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Considere uma conexão TCP em rede. Essa conexão pode assumir diferentes estados: Estabelecida, Escutando, Fechada. Cada um desses estados assume uma rotina específica, de modo que a tentativa de executar uma ação em um estado diferente não deve ser possível, em conformidade com a transição de estados que a conexão pode assumir.</a:t>
            </a:r>
            <a:endParaRPr/>
          </a:p>
        </p:txBody>
      </p:sp>
      <p:sp>
        <p:nvSpPr>
          <p:cNvPr id="480" name="Google Shape;480;g3d8530cce7c_0_35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81" name="Google Shape;481;g3d8530cce7c_0_35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d8530cce7c_0_35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d8530cce7c_0_35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g3d8530cce7c_0_3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63" y="1478700"/>
            <a:ext cx="2847087" cy="26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8530cce7c_0_36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90" name="Google Shape;490;g3d8530cce7c_0_3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4825"/>
            <a:ext cx="8839201" cy="3115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8530cce7c_0_372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State</a:t>
            </a:r>
            <a:r>
              <a:rPr lang="pt-BR"/>
              <a:t>: interface que fornece uma operação a ser executada a partir de um estado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ConcreteStateX</a:t>
            </a:r>
            <a:r>
              <a:rPr lang="pt-BR"/>
              <a:t>: implementação da operação de cada estado descrito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Context</a:t>
            </a:r>
            <a:r>
              <a:rPr lang="pt-BR"/>
              <a:t>: classe que fornece a interface que segue a mesma interface gerenciada para cada estado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da transição de estados</a:t>
            </a:r>
            <a:endParaRPr/>
          </a:p>
        </p:txBody>
      </p:sp>
      <p:sp>
        <p:nvSpPr>
          <p:cNvPr id="496" name="Google Shape;496;g3d8530cce7c_0_37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8530cce7c_0_377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Cada estado é descrito em uma implementação da interface. No contexto, ocorre a chamada do método que executa a ação de cada estado, que internamente consideram as regras específicas de transição de estado. Dessa forma, o contexto não tem a necessidade de conhecer as regras de transição para cada estado.</a:t>
            </a:r>
            <a:endParaRPr/>
          </a:p>
        </p:txBody>
      </p:sp>
      <p:sp>
        <p:nvSpPr>
          <p:cNvPr id="502" name="Google Shape;502;g3d8530cce7c_0_37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8530cce7c_0_382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e-commerce, um pedido de compra passa por vários ciclos de vida, como: Pendente, Pago, Enviado, Entregue, Cancelado.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No estado </a:t>
            </a:r>
            <a:r>
              <a:rPr b="1" lang="pt-BR"/>
              <a:t>Pendente</a:t>
            </a:r>
            <a:r>
              <a:rPr lang="pt-BR"/>
              <a:t>, você pode chamar o método “pagar()”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No estado </a:t>
            </a:r>
            <a:r>
              <a:rPr b="1" lang="pt-BR"/>
              <a:t>Enviado</a:t>
            </a:r>
            <a:r>
              <a:rPr lang="pt-BR"/>
              <a:t>, chamar o método “pagar()” não deve fazer nada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No estado </a:t>
            </a:r>
            <a:r>
              <a:rPr b="1" lang="pt-BR"/>
              <a:t>Entregue</a:t>
            </a:r>
            <a:r>
              <a:rPr lang="pt-BR"/>
              <a:t>, não é mais possível chamar o método “cancelar()”</a:t>
            </a:r>
            <a:endParaRPr/>
          </a:p>
        </p:txBody>
      </p:sp>
      <p:sp>
        <p:nvSpPr>
          <p:cNvPr id="508" name="Google Shape;508;g3d8530cce7c_0_382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09" name="Google Shape;509;g3d8530cce7c_0_382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d8530cce7c_0_38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d8530cce7c_0_38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g3d8530cce7c_0_382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8530cce7c_0_39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18" name="Google Shape;518;g3d8530cce7c_0_3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00" y="1012200"/>
            <a:ext cx="8431996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8530cce7c_0_397"/>
          <p:cNvSpPr txBox="1"/>
          <p:nvPr>
            <p:ph idx="1" type="body"/>
          </p:nvPr>
        </p:nvSpPr>
        <p:spPr>
          <a:xfrm>
            <a:off x="4401425" y="1997200"/>
            <a:ext cx="4187100" cy="29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sistema de publicação de conteúdos oferece aos redatores a possibilidade de criar artigos com uma hierarquia de aprovação antes da publicação: </a:t>
            </a:r>
            <a:r>
              <a:rPr b="1" lang="pt-BR"/>
              <a:t>Rascunho</a:t>
            </a:r>
            <a:r>
              <a:rPr lang="pt-BR"/>
              <a:t>, </a:t>
            </a:r>
            <a:r>
              <a:rPr b="1" lang="pt-BR"/>
              <a:t>Em Moderação</a:t>
            </a:r>
            <a:r>
              <a:rPr lang="pt-BR"/>
              <a:t>, </a:t>
            </a:r>
            <a:r>
              <a:rPr b="1" lang="pt-BR"/>
              <a:t>Publicado</a:t>
            </a:r>
            <a:r>
              <a:rPr lang="pt-BR"/>
              <a:t>, </a:t>
            </a:r>
            <a:r>
              <a:rPr b="1" lang="pt-BR"/>
              <a:t>Arquivado</a:t>
            </a:r>
            <a:r>
              <a:rPr lang="pt-BR"/>
              <a:t>. Enquanto o artigo estiver em </a:t>
            </a:r>
            <a:r>
              <a:rPr b="1" lang="pt-BR"/>
              <a:t>rascunho</a:t>
            </a:r>
            <a:r>
              <a:rPr lang="pt-BR"/>
              <a:t>, ele pode ser editado a vontade. Quando ele estiver em </a:t>
            </a:r>
            <a:r>
              <a:rPr b="1" lang="pt-BR"/>
              <a:t>moderação</a:t>
            </a:r>
            <a:r>
              <a:rPr lang="pt-BR"/>
              <a:t>, não poderá ser editado e apenas aprovado ou reprovado. Quando estiver </a:t>
            </a:r>
            <a:r>
              <a:rPr b="1" lang="pt-BR"/>
              <a:t>publicado</a:t>
            </a:r>
            <a:r>
              <a:rPr lang="pt-BR"/>
              <a:t>, não poderá ser editado nem aprovado, podendo apenas ser </a:t>
            </a:r>
            <a:r>
              <a:rPr b="1" lang="pt-BR"/>
              <a:t>arquivado</a:t>
            </a:r>
            <a:r>
              <a:rPr lang="pt-BR"/>
              <a:t>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d8530cce7c_0_39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25" name="Google Shape;525;g3d8530cce7c_0_39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d8530cce7c_0_39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d8530cce7c_0_39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d8530cce7c_0_397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8530cce7c_0_40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8530cce7c_0_411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o comportamento de um objeto depende do seu estado e ele pode mudar em tempo de execução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operações têm comandos condicionais grandes, de várias alternativas possíveis, que dependem do estado do objeto</a:t>
            </a:r>
            <a:endParaRPr/>
          </a:p>
        </p:txBody>
      </p:sp>
      <p:sp>
        <p:nvSpPr>
          <p:cNvPr id="539" name="Google Shape;539;g3d8530cce7c_0_41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8530cce7c_0_416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Confina comportamento específico de estados e particiona o comportamento para estados diferentes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Torna </a:t>
            </a:r>
            <a:r>
              <a:rPr lang="pt-BR"/>
              <a:t>explícitas</a:t>
            </a:r>
            <a:r>
              <a:rPr lang="pt-BR"/>
              <a:t> as transições de estado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Objetos State podem ser compartilhados</a:t>
            </a:r>
            <a:endParaRPr/>
          </a:p>
        </p:txBody>
      </p:sp>
      <p:sp>
        <p:nvSpPr>
          <p:cNvPr id="545" name="Google Shape;545;g3d8530cce7c_0_41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8530cce7c_0_345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STRATEGY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8530cce7c_0_425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Definir uma família de algoritmos, encapsular cada uma delas e torná-las intercambiáveis. Strategy permite que o algoritmo varie independentemente dos clientes que o utilizam.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p.292</a:t>
            </a:r>
            <a:endParaRPr/>
          </a:p>
        </p:txBody>
      </p:sp>
      <p:sp>
        <p:nvSpPr>
          <p:cNvPr id="556" name="Google Shape;556;g3d8530cce7c_0_425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57" name="Google Shape;557;g3d8530cce7c_0_425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d8530cce7c_0_42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d8530cce7c_0_42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d8530cce7c_0_425"/>
          <p:cNvPicPr preferRelativeResize="0"/>
          <p:nvPr/>
        </p:nvPicPr>
        <p:blipFill rotWithShape="1">
          <a:blip r:embed="rId3">
            <a:alphaModFix/>
          </a:blip>
          <a:srcRect b="0" l="4599" r="15827" t="0"/>
          <a:stretch/>
        </p:blipFill>
        <p:spPr>
          <a:xfrm>
            <a:off x="0" y="1672400"/>
            <a:ext cx="3224400" cy="227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8530cce7c_0_433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Existem muitos algoritmos para quebrar um stream de texto em linhas, mas codificar esses algoritmos de forma fixa e rígida não é tão desejável por termos menos flexibilidade para diferentes algoritmos.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Dessa forma, podemos encapsular cada um desses algoritmos em classes separadas, que formam as chamadas </a:t>
            </a:r>
            <a:r>
              <a:rPr b="1" lang="pt-BR"/>
              <a:t>estratégias</a:t>
            </a:r>
            <a:r>
              <a:rPr lang="pt-BR"/>
              <a:t>.</a:t>
            </a:r>
            <a:endParaRPr/>
          </a:p>
        </p:txBody>
      </p:sp>
      <p:sp>
        <p:nvSpPr>
          <p:cNvPr id="566" name="Google Shape;566;g3d8530cce7c_0_433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567" name="Google Shape;567;g3d8530cce7c_0_433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d8530cce7c_0_43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d8530cce7c_0_43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g3d8530cce7c_0_433"/>
          <p:cNvPicPr preferRelativeResize="0"/>
          <p:nvPr/>
        </p:nvPicPr>
        <p:blipFill rotWithShape="1">
          <a:blip r:embed="rId3">
            <a:alphaModFix/>
          </a:blip>
          <a:srcRect b="0" l="4599" r="15827" t="0"/>
          <a:stretch/>
        </p:blipFill>
        <p:spPr>
          <a:xfrm>
            <a:off x="0" y="1672400"/>
            <a:ext cx="3224400" cy="227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8530cce7c_0_44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76" name="Google Shape;576;g3d8530cce7c_0_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196650"/>
            <a:ext cx="8839201" cy="298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8530cce7c_0_448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Strategy</a:t>
            </a:r>
            <a:r>
              <a:rPr lang="pt-BR"/>
              <a:t>: interface que define a operação encapsulada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ConcreteStrategyX</a:t>
            </a:r>
            <a:r>
              <a:rPr lang="pt-BR"/>
              <a:t>: implementação da operação específica que segue uma estratégia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Context</a:t>
            </a:r>
            <a:r>
              <a:rPr lang="pt-BR"/>
              <a:t>: classe que faz uso de uma instância de estratégia configurada em tempo de execução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das estratégias a partir do contexto</a:t>
            </a:r>
            <a:endParaRPr/>
          </a:p>
        </p:txBody>
      </p:sp>
      <p:sp>
        <p:nvSpPr>
          <p:cNvPr id="582" name="Google Shape;582;g3d8530cce7c_0_44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8530cce7c_0_453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 base nos dados que são enviados ao contexto, ele tem a possibilidade de modificar a estratégia empregada no fluxo em tempo de execução, sem a necessidade de condições múltiplas sendo definidas no algoritmo. Isso permite uma maior flexibilidade no uso de diferentes estratégias.</a:t>
            </a:r>
            <a:endParaRPr/>
          </a:p>
        </p:txBody>
      </p:sp>
      <p:sp>
        <p:nvSpPr>
          <p:cNvPr id="588" name="Google Shape;588;g3d8530cce7c_0_45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8530cce7c_0_458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uma integração de API, é muito comum tratarmos de mecanismos de autenticação, que vão permitir ou não que usemos as APIs. Nesse processo, é interessante que tenhamos esses mecanismos sendo configurados de forma dinâmica, se adequando ao recurso sendo solicitado.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um mecanismo de gerenciamento de autenticação de APIs.</a:t>
            </a:r>
            <a:endParaRPr/>
          </a:p>
        </p:txBody>
      </p:sp>
      <p:sp>
        <p:nvSpPr>
          <p:cNvPr id="594" name="Google Shape;594;g3d8530cce7c_0_458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95" name="Google Shape;595;g3d8530cce7c_0_458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d8530cce7c_0_45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d8530cce7c_0_45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3d8530cce7c_0_458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8530cce7c_0_46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04" name="Google Shape;604;g3d8530cce7c_0_4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85" y="1012200"/>
            <a:ext cx="6774429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8530cce7c_0_473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Na hora de concluir uma compra em um sistema de e-commerce, podemos decidir qual forma de pagamento iremos utilizar. O carrinho de compras não precisa conhecer a fundo detalhes de formas de pagamento (PIX, cartão, boleto etc), mas sim saber que, chamando um método “pagar(valor)” essa operação vai ser executada e ser aprovada ou não.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esse sistema.</a:t>
            </a:r>
            <a:endParaRPr/>
          </a:p>
        </p:txBody>
      </p:sp>
      <p:sp>
        <p:nvSpPr>
          <p:cNvPr id="610" name="Google Shape;610;g3d8530cce7c_0_47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11" name="Google Shape;611;g3d8530cce7c_0_47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d8530cce7c_0_47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d8530cce7c_0_47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g3d8530cce7c_0_473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8530cce7c_0_48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8530cce7c_0_487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muitas classes relacionadas diferem somente no seu comportamento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há a necessidade de termos variantes de um algoritmo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uma classe define muitos comportamentos</a:t>
            </a:r>
            <a:endParaRPr/>
          </a:p>
        </p:txBody>
      </p:sp>
      <p:sp>
        <p:nvSpPr>
          <p:cNvPr id="625" name="Google Shape;625;g3d8530cce7c_0_48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8530cce7c_0_492"/>
          <p:cNvSpPr txBox="1"/>
          <p:nvPr>
            <p:ph idx="1" type="body"/>
          </p:nvPr>
        </p:nvSpPr>
        <p:spPr>
          <a:xfrm>
            <a:off x="4579525" y="2383800"/>
            <a:ext cx="3932700" cy="26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Famílias de algoritmos relacionados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Ter uma alternativa ao uso de subclasses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Estratégias eliminam comandos condicionais da linguagem de programação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Possibilidade de escolha de implementações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Custo de comunicação e aumento no número de objetos</a:t>
            </a:r>
            <a:endParaRPr/>
          </a:p>
        </p:txBody>
      </p:sp>
      <p:sp>
        <p:nvSpPr>
          <p:cNvPr id="631" name="Google Shape;631;g3d8530cce7c_0_49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comportamentais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Observer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State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Strategy</a:t>
            </a:r>
            <a:endParaRPr/>
          </a:p>
        </p:txBody>
      </p:sp>
      <p:sp>
        <p:nvSpPr>
          <p:cNvPr id="637" name="Google Shape;637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38" name="Google Shape;638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1" name="Google Shape;641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47" name="Google Shape;647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ACOOOOORDA MENIIIINA!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Ana Maria Braga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48" name="Google Shape;648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27"/>
          <p:cNvPicPr preferRelativeResize="0"/>
          <p:nvPr/>
        </p:nvPicPr>
        <p:blipFill rotWithShape="1">
          <a:blip r:embed="rId3">
            <a:alphaModFix/>
          </a:blip>
          <a:srcRect b="0" l="13799" r="15364" t="4343"/>
          <a:stretch/>
        </p:blipFill>
        <p:spPr>
          <a:xfrm>
            <a:off x="135950" y="1583425"/>
            <a:ext cx="2097600" cy="27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