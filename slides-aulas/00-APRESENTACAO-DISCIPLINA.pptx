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Anaheim"/>
      <p:regular r:id="rId26"/>
      <p:bold r:id="rId27"/>
    </p:embeddedFont>
    <p:embeddedFont>
      <p:font typeface="Barlow Condensed ExtraBold"/>
      <p:bold r:id="rId28"/>
      <p:boldItalic r:id="rId29"/>
    </p:embeddedFont>
    <p:embeddedFont>
      <p:font typeface="Proxima Nova Semibold"/>
      <p:regular r:id="rId30"/>
      <p:bold r:id="rId31"/>
      <p:boldItalic r:id="rId32"/>
    </p:embeddedFont>
    <p:embeddedFont>
      <p:font typeface="Overpass Mono"/>
      <p:regular r:id="rId33"/>
      <p:bold r:id="rId34"/>
    </p:embeddedFont>
    <p:embeddedFont>
      <p:font typeface="Barlow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hfDVfbsn518r6m4SHc1a57MKW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Anaheim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BarlowCondensedExtraBold-bold.fntdata"/><Relationship Id="rId27" Type="http://schemas.openxmlformats.org/officeDocument/2006/relationships/font" Target="fonts/Anahei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Condensed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Semibold-bold.fntdata"/><Relationship Id="rId30" Type="http://schemas.openxmlformats.org/officeDocument/2006/relationships/font" Target="fonts/ProximaNova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OverpassMono-regular.fntdata"/><Relationship Id="rId10" Type="http://schemas.openxmlformats.org/officeDocument/2006/relationships/slide" Target="slides/slide5.xml"/><Relationship Id="rId32" Type="http://schemas.openxmlformats.org/officeDocument/2006/relationships/font" Target="fonts/ProximaNova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Barlow-regular.fntdata"/><Relationship Id="rId12" Type="http://schemas.openxmlformats.org/officeDocument/2006/relationships/slide" Target="slides/slide7.xml"/><Relationship Id="rId34" Type="http://schemas.openxmlformats.org/officeDocument/2006/relationships/font" Target="fonts/OverpassMono-bold.fntdata"/><Relationship Id="rId15" Type="http://schemas.openxmlformats.org/officeDocument/2006/relationships/slide" Target="slides/slide10.xml"/><Relationship Id="rId37" Type="http://schemas.openxmlformats.org/officeDocument/2006/relationships/font" Target="fonts/Barlow-italic.fntdata"/><Relationship Id="rId14" Type="http://schemas.openxmlformats.org/officeDocument/2006/relationships/slide" Target="slides/slide9.xml"/><Relationship Id="rId36" Type="http://schemas.openxmlformats.org/officeDocument/2006/relationships/font" Target="fonts/Barlow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Barlow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a0afed0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ca0afed0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a0afed0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ca0afed0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53300b827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253300b827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a0afed01f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ca0afed01f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53300b827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253300b827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aefed92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caefed92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caefed92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caefed92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caefed92a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caefed92a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aefed92a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caefed92a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a0afed01f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ca0afed01f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53300b827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253300b827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a0afed01f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ca0afed01f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b298a347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cb298a347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51" name="Google Shape;51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4" name="Google Shape;64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8" name="Google Shape;98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00" name="Google Shape;100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02" name="Google Shape;102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1" name="Google Shape;111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2" name="Google Shape;112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36" name="Google Shape;136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5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5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5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5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5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5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" sz="5600"/>
              <a:t>ARA0110</a:t>
            </a:r>
            <a:endParaRPr sz="5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" sz="5600"/>
              <a:t>PADRÕES DE PROJETO</a:t>
            </a:r>
            <a:endParaRPr sz="5600"/>
          </a:p>
        </p:txBody>
      </p:sp>
      <p:sp>
        <p:nvSpPr>
          <p:cNvPr id="356" name="Google Shape;356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solidFill>
                  <a:srgbClr val="FFFFFF"/>
                </a:solidFill>
              </a:rPr>
              <a:t>Aula 00: Apresentação da disciplina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a0afed01f_0_0"/>
          <p:cNvSpPr txBox="1"/>
          <p:nvPr>
            <p:ph idx="1" type="body"/>
          </p:nvPr>
        </p:nvSpPr>
        <p:spPr>
          <a:xfrm>
            <a:off x="609500" y="1928557"/>
            <a:ext cx="3512700" cy="2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2000"/>
              <a:t>Linnik Souza</a:t>
            </a:r>
            <a:endParaRPr b="1" sz="20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Bacharel em Engenharia de Software pelo IComp/UFAM (2022);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Pós graduado em Banco de Dados pela Fametro (2023);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Pós graduado em Arquitetura de Software pela PUC-MG (2025);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Trabalha na Bemol Digital desde 2020 (como engenheiro de software desde 2022)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62" name="Google Shape;362;g3ca0afed01f_0_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FF"/>
                </a:solidFill>
              </a:rPr>
              <a:t>QUEM SOU EU?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63" name="Google Shape;363;g3ca0afed01f_0_0" title="eu-mesmo-2025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4625" y="1168313"/>
            <a:ext cx="2428875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ca0afed01f_0_0"/>
          <p:cNvSpPr/>
          <p:nvPr/>
        </p:nvSpPr>
        <p:spPr>
          <a:xfrm>
            <a:off x="7524751" y="3887550"/>
            <a:ext cx="161928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a0afed01f_0_7"/>
          <p:cNvSpPr txBox="1"/>
          <p:nvPr>
            <p:ph idx="1" type="body"/>
          </p:nvPr>
        </p:nvSpPr>
        <p:spPr>
          <a:xfrm>
            <a:off x="609500" y="1928557"/>
            <a:ext cx="3512700" cy="2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2000"/>
              <a:t>E-mail</a:t>
            </a:r>
            <a:endParaRPr b="1" sz="20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linniksouza.prof@gmail.com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2000"/>
              <a:t>LinkedIn</a:t>
            </a:r>
            <a:endParaRPr b="1" sz="20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https://www.linkedin.com/in/jocelinnik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2000"/>
              <a:t>Github</a:t>
            </a:r>
            <a:endParaRPr b="1" sz="20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https://github.com/jocelinnik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https://github.com/linniksouza</a:t>
            </a:r>
            <a:endParaRPr/>
          </a:p>
        </p:txBody>
      </p:sp>
      <p:sp>
        <p:nvSpPr>
          <p:cNvPr id="370" name="Google Shape;370;g3ca0afed01f_0_7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FFFFFF"/>
                </a:solidFill>
              </a:rPr>
              <a:t>CONTATOS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71" name="Google Shape;371;g3ca0afed01f_0_7" title="eu-mesmo-2025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4625" y="1168313"/>
            <a:ext cx="2428875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ca0afed01f_0_7"/>
          <p:cNvSpPr/>
          <p:nvPr/>
        </p:nvSpPr>
        <p:spPr>
          <a:xfrm>
            <a:off x="7524751" y="3887550"/>
            <a:ext cx="161928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SOBRE A DISCIPLINA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53300b8278_0_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Apresentar fundamentos mais avançados de programação orientada a objetos, passando pelos conceitos e implementações de diferentes padrões de projetos e seus objetivos, mostrando exemplos com a linguagem de programação Java</a:t>
            </a:r>
            <a:endParaRPr/>
          </a:p>
        </p:txBody>
      </p:sp>
      <p:sp>
        <p:nvSpPr>
          <p:cNvPr id="383" name="Google Shape;383;g253300b8278_0_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OBJETIVO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a0afed01f_0_355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Inicialmente, vamos fazer uma breve revisão sobre conceitos de programação orientada a objetos, mostrando princípios, pilares fundamentais e a motivação para a formalização de padrões de projeto, passando por seus conceitos e aplicações.</a:t>
            </a:r>
            <a:endParaRPr/>
          </a:p>
        </p:txBody>
      </p:sp>
      <p:sp>
        <p:nvSpPr>
          <p:cNvPr id="389" name="Google Shape;389;g3ca0afed01f_0_35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EMENTA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53300b8278_0_1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EMENTA</a:t>
            </a:r>
            <a:endParaRPr/>
          </a:p>
        </p:txBody>
      </p:sp>
      <p:pic>
        <p:nvPicPr>
          <p:cNvPr id="395" name="Google Shape;395;g253300b8278_0_19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" name="Google Shape;396;g253300b8278_0_19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397" name="Google Shape;397;g253300b8278_0_19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253300b8278_0_19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253300b8278_0_19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253300b8278_0_19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253300b8278_0_19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g253300b8278_0_19"/>
          <p:cNvSpPr txBox="1"/>
          <p:nvPr/>
        </p:nvSpPr>
        <p:spPr>
          <a:xfrm>
            <a:off x="1978850" y="1111700"/>
            <a:ext cx="34833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AutoNum type="arabicPeriod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Relembrando orientação a objetos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Conceito fundamental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Pilares da orientação a objetos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Desafios de desenvolvimento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Formas mais avançadas de se pensar o desenvolvimento de software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O que são padrões de projetos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GoF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AutoNum type="arabicPeriod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Padrões de projeto criacionais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Abstract Factory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Builder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Factory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Prototype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Singleton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03" name="Google Shape;403;g253300b8278_0_19"/>
          <p:cNvSpPr txBox="1"/>
          <p:nvPr/>
        </p:nvSpPr>
        <p:spPr>
          <a:xfrm>
            <a:off x="5617825" y="1111700"/>
            <a:ext cx="34833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AutoNum type="arabicPeriod" startAt="3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Padrões de projeto estruturais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Adapter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Bridge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Decorator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Composite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Facade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Flyweight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Proxy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AutoNum type="arabicPeriod" startAt="3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Padrões de projeto comportamentais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Chain of Responsibility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Command e Iterator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Mediator, Memento e Strategy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Observer, Visitor e State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Interpreter e Template Method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aefed92a9_0_0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Avançando, vamos passar pelas definições do padrão GRASP, suas responsabilidades e aplicações em cenários de desenvolvimento profissional. Além disso, vamos abordar conceitos que definem a filosofia SOLID.</a:t>
            </a:r>
            <a:endParaRPr/>
          </a:p>
        </p:txBody>
      </p:sp>
      <p:sp>
        <p:nvSpPr>
          <p:cNvPr id="409" name="Google Shape;409;g3caefed92a9_0_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EMENTA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aefed92a9_0_5"/>
          <p:cNvSpPr txBox="1"/>
          <p:nvPr/>
        </p:nvSpPr>
        <p:spPr>
          <a:xfrm>
            <a:off x="5617825" y="1111700"/>
            <a:ext cx="34833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AutoNum type="arabicPeriod" startAt="6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SOLID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O que é SOLID?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Responsabilidade Única (S)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Aberto-Fechado (O)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Substituição de Liskov (L)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Segregação de Interfaces (I)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Inversão de Dependências (D)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15" name="Google Shape;415;g3caefed92a9_0_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EMENTA</a:t>
            </a:r>
            <a:endParaRPr/>
          </a:p>
        </p:txBody>
      </p:sp>
      <p:pic>
        <p:nvPicPr>
          <p:cNvPr id="416" name="Google Shape;416;g3caefed92a9_0_5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" name="Google Shape;417;g3caefed92a9_0_5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418" name="Google Shape;418;g3caefed92a9_0_5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3caefed92a9_0_5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caefed92a9_0_5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caefed92a9_0_5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caefed92a9_0_5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3" name="Google Shape;423;g3caefed92a9_0_5"/>
          <p:cNvSpPr txBox="1"/>
          <p:nvPr/>
        </p:nvSpPr>
        <p:spPr>
          <a:xfrm>
            <a:off x="1978850" y="1111700"/>
            <a:ext cx="34833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AutoNum type="arabicPeriod" startAt="5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Padrões GRASP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Especialista na informação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Criador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Acoplamento fraco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Coesão alta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Controlador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Indireção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Variações protegidas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aefed92a9_0_18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Por fim, vamos explorar recursos da plataforma Java para desenvolvimento de aplicações empresariais, utilizando recursos da especificação JEE (Java Enterprise Edition).</a:t>
            </a:r>
            <a:endParaRPr/>
          </a:p>
        </p:txBody>
      </p:sp>
      <p:sp>
        <p:nvSpPr>
          <p:cNvPr id="429" name="Google Shape;429;g3caefed92a9_0_1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EMENTA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aefed92a9_0_2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EMENTA</a:t>
            </a:r>
            <a:endParaRPr/>
          </a:p>
        </p:txBody>
      </p:sp>
      <p:pic>
        <p:nvPicPr>
          <p:cNvPr id="435" name="Google Shape;435;g3caefed92a9_0_23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6" name="Google Shape;436;g3caefed92a9_0_23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437" name="Google Shape;437;g3caefed92a9_0_23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caefed92a9_0_23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3caefed92a9_0_23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g3caefed92a9_0_23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3caefed92a9_0_23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2" name="Google Shape;442;g3caefed92a9_0_23"/>
          <p:cNvSpPr txBox="1"/>
          <p:nvPr/>
        </p:nvSpPr>
        <p:spPr>
          <a:xfrm>
            <a:off x="1978850" y="1111700"/>
            <a:ext cx="69888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AutoNum type="arabicPeriod" startAt="7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Especificações Java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JSE, JEE e JME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Tecnologias JEE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JPA (Java Persistence API)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Componentes EJB (Enterprise Java Beans)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Servlets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Ecossistema Spring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Arquitetura MVC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-"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Padrão Front Control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ca0afed01f_0_1011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SOBRE AS AULAS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53300b8278_0_107"/>
          <p:cNvSpPr txBox="1"/>
          <p:nvPr>
            <p:ph idx="1" type="subTitle"/>
          </p:nvPr>
        </p:nvSpPr>
        <p:spPr>
          <a:xfrm>
            <a:off x="5626675" y="1941425"/>
            <a:ext cx="340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Apresentação de slides mostrando conceitos teóricos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3" name="Google Shape;453;g253300b8278_0_107"/>
          <p:cNvSpPr txBox="1"/>
          <p:nvPr>
            <p:ph idx="2" type="subTitle"/>
          </p:nvPr>
        </p:nvSpPr>
        <p:spPr>
          <a:xfrm>
            <a:off x="120275" y="3151100"/>
            <a:ext cx="34005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Implementação de exemplos práticos nos slides ou montados na hora</a:t>
            </a:r>
            <a:endParaRPr/>
          </a:p>
        </p:txBody>
      </p:sp>
      <p:sp>
        <p:nvSpPr>
          <p:cNvPr id="454" name="Google Shape;454;g253300b8278_0_107"/>
          <p:cNvSpPr txBox="1"/>
          <p:nvPr>
            <p:ph type="title"/>
          </p:nvPr>
        </p:nvSpPr>
        <p:spPr>
          <a:xfrm>
            <a:off x="610950" y="2794025"/>
            <a:ext cx="2910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Prática ao vivo</a:t>
            </a:r>
            <a:endParaRPr/>
          </a:p>
        </p:txBody>
      </p:sp>
      <p:sp>
        <p:nvSpPr>
          <p:cNvPr id="455" name="Google Shape;455;g253300b8278_0_107"/>
          <p:cNvSpPr txBox="1"/>
          <p:nvPr>
            <p:ph idx="3" type="title"/>
          </p:nvPr>
        </p:nvSpPr>
        <p:spPr>
          <a:xfrm>
            <a:off x="5626675" y="1582550"/>
            <a:ext cx="31632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Aulas expositivas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a0afed01f_0_1015"/>
          <p:cNvSpPr txBox="1"/>
          <p:nvPr>
            <p:ph idx="1" type="subTitle"/>
          </p:nvPr>
        </p:nvSpPr>
        <p:spPr>
          <a:xfrm>
            <a:off x="5626675" y="1941425"/>
            <a:ext cx="340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Para exercitar o que é aprendido nas aulas, com cenários completos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1" name="Google Shape;461;g3ca0afed01f_0_1015"/>
          <p:cNvSpPr txBox="1"/>
          <p:nvPr>
            <p:ph idx="2" type="subTitle"/>
          </p:nvPr>
        </p:nvSpPr>
        <p:spPr>
          <a:xfrm>
            <a:off x="120275" y="3151100"/>
            <a:ext cx="34005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O engajamento dos alunos é fundamental para o sucesso da disciplina</a:t>
            </a:r>
            <a:endParaRPr/>
          </a:p>
        </p:txBody>
      </p:sp>
      <p:sp>
        <p:nvSpPr>
          <p:cNvPr id="462" name="Google Shape;462;g3ca0afed01f_0_1015"/>
          <p:cNvSpPr txBox="1"/>
          <p:nvPr>
            <p:ph type="title"/>
          </p:nvPr>
        </p:nvSpPr>
        <p:spPr>
          <a:xfrm>
            <a:off x="164900" y="2794025"/>
            <a:ext cx="335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Participação ativa</a:t>
            </a:r>
            <a:endParaRPr/>
          </a:p>
        </p:txBody>
      </p:sp>
      <p:sp>
        <p:nvSpPr>
          <p:cNvPr id="463" name="Google Shape;463;g3ca0afed01f_0_1015"/>
          <p:cNvSpPr txBox="1"/>
          <p:nvPr>
            <p:ph idx="3" type="title"/>
          </p:nvPr>
        </p:nvSpPr>
        <p:spPr>
          <a:xfrm>
            <a:off x="5626675" y="1582550"/>
            <a:ext cx="335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Trabalhos práticos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b298a3471_0_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CANAL DE COMUNICAÇÃO</a:t>
            </a:r>
            <a:endParaRPr/>
          </a:p>
        </p:txBody>
      </p:sp>
      <p:pic>
        <p:nvPicPr>
          <p:cNvPr id="469" name="Google Shape;469;g3cb298a3471_0_1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0" name="Google Shape;470;g3cb298a3471_0_1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471" name="Google Shape;471;g3cb298a3471_0_1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3cb298a3471_0_1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3cb298a3471_0_1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3cb298a3471_0_1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3cb298a3471_0_1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76" name="Google Shape;476;g3cb298a3471_0_1" title="link-grupo.jpeg"/>
          <p:cNvPicPr preferRelativeResize="0"/>
          <p:nvPr/>
        </p:nvPicPr>
        <p:blipFill rotWithShape="1">
          <a:blip r:embed="rId4">
            <a:alphaModFix/>
          </a:blip>
          <a:srcRect b="36040" l="15908" r="15785" t="26220"/>
          <a:stretch/>
        </p:blipFill>
        <p:spPr>
          <a:xfrm>
            <a:off x="3036920" y="1012200"/>
            <a:ext cx="3070165" cy="386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7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OBRIGADO!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“E LÁ VAMOS NÓS…”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Bruxa do Pica-Pau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27"/>
          <p:cNvPicPr preferRelativeResize="0"/>
          <p:nvPr/>
        </p:nvPicPr>
        <p:blipFill rotWithShape="1">
          <a:blip r:embed="rId3">
            <a:alphaModFix/>
          </a:blip>
          <a:srcRect b="0" l="0" r="0" t="18126"/>
          <a:stretch/>
        </p:blipFill>
        <p:spPr>
          <a:xfrm>
            <a:off x="169900" y="1604275"/>
            <a:ext cx="2029700" cy="26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